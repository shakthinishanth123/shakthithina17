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harts/chart1.xml" ContentType="application/vnd.openxmlformats-officedocument.drawingml.chart+xml"/>
  <Override PartName="/ppt/slides/slide12.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Lst>
  <p:sldSz type="screen16x9" cy="6858000" cx="12192000"/>
  <p:notesSz cx="12192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howGuides="1">
      <p:cViewPr varScale="1">
        <p:scale>
          <a:sx n="77" d="100"/>
          <a:sy n="77" d="100"/>
        </p:scale>
        <p:origin x="72" y="2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tableStyles" Target="tableStyle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oleObject" Target="https://d.docs.live.net/c5c810eb88afd7d2/Documents/Custom%20Office%20Templates/POOJA%20SURESH%201.xlt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[POOJA SURESH 1.xltx]POOJA SURESH!PivotTable1</c:name>
    <c:fmtId val="-1"/>
  </c:pivotSource>
  <c:chart>
    <c:title>
      <c:tx>
        <c:rich>
          <a:bodyPr rot="0" spcFirstLastPara="1" vertOverflow="ellipsis" vert="horz" wrap="square" anchor="ctr" anchorCtr="1"/>
          <a:lstStyle/>
          <a:p>
            <a:pPr>
              <a:defRPr lang="en-US" sz="1400" b="0" i="0" u="none" strike="noStrike" kern="1200" spc="0" baseline="0">
                <a:solidFill>
                  <a:schemeClr val="tx1">
                    <a:lumMod val="65000"/>
                    <a:lumOff val="35000"/>
                  </a:schemeClr>
                </a:solidFill>
                <a:latin typeface="+mn-lt"/>
                <a:ea typeface="+mn-ea"/>
                <a:cs typeface="+mn-cs"/>
              </a:defRPr>
            </a:pPr>
            <a:r>
              <a:rPr lang="en-IN"/>
              <a:t>EMPLOYMENT PERFORMANCE ANALYSIS</a:t>
            </a:r>
            <a:endParaRPr lang="en-IN"/>
          </a:p>
        </c:rich>
      </c:tx>
      <c:layout/>
      <c:overlay val="0"/>
      <c:spPr>
        <a:noFill/>
        <a:ln>
          <a:noFill/>
        </a:ln>
        <a:effectLst/>
      </c:spPr>
    </c:title>
    <c:autoTitleDeleted val="0"/>
    <c:plotArea>
      <c:layout/>
      <c:barChart>
        <c:barDir val="col"/>
        <c:grouping val="clustered"/>
        <c:varyColors val="0"/>
        <c:ser>
          <c:idx val="0"/>
          <c:order val="0"/>
          <c:tx>
            <c:strRef>
              <c:f>'POOJA SURESH'!$B$3:$B$4</c:f>
              <c:strCache>
                <c:ptCount val="1"/>
                <c:pt idx="0">
                  <c:v>Exceeds</c:v>
                </c:pt>
              </c:strCache>
            </c:strRef>
          </c:tx>
          <c:spPr>
            <a:solidFill>
              <a:schemeClr val="accent1"/>
            </a:solidFill>
            <a:ln>
              <a:noFill/>
            </a:ln>
            <a:effectLst/>
          </c:spPr>
          <c:invertIfNegative val="0"/>
          <c:dLbls>
            <c:delete val="1"/>
          </c:dLbls>
          <c:cat>
            <c:strRef>
              <c:f>'POOJA SURESH'!$A$5:$A$15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'POOJA SURESH'!$B$5:$B$15</c:f>
              <c:numCache>
                <c:formatCode>General</c:formatCode>
                <c:ptCount val="10"/>
                <c:pt idx="0">
                  <c:v>36.0</c:v>
                </c:pt>
                <c:pt idx="1">
                  <c:v>39.0</c:v>
                </c:pt>
                <c:pt idx="2">
                  <c:v>39.0</c:v>
                </c:pt>
                <c:pt idx="3">
                  <c:v>39.0</c:v>
                </c:pt>
                <c:pt idx="4">
                  <c:v>30.0</c:v>
                </c:pt>
                <c:pt idx="5">
                  <c:v>34.0</c:v>
                </c:pt>
                <c:pt idx="6">
                  <c:v>35.0</c:v>
                </c:pt>
                <c:pt idx="7">
                  <c:v>46.0</c:v>
                </c:pt>
                <c:pt idx="8">
                  <c:v>41.0</c:v>
                </c:pt>
                <c:pt idx="9">
                  <c:v>30.0</c:v>
                </c:pt>
              </c:numCache>
            </c:numRef>
          </c:val>
        </c:ser>
        <c:ser>
          <c:idx val="1"/>
          <c:order val="1"/>
          <c:tx>
            <c:strRef>
              <c:f>'POOJA SURESH'!$C$3:$C$4</c:f>
              <c:strCache>
                <c:ptCount val="1"/>
                <c:pt idx="0">
                  <c:v>Fully Meets</c:v>
                </c:pt>
              </c:strCache>
            </c:strRef>
          </c:tx>
          <c:spPr>
            <a:solidFill>
              <a:schemeClr val="accent2"/>
            </a:solidFill>
            <a:ln>
              <a:noFill/>
            </a:ln>
            <a:effectLst/>
          </c:spPr>
          <c:invertIfNegative val="0"/>
          <c:dLbls>
            <c:delete val="1"/>
          </c:dLbls>
          <c:trendline>
            <c:spPr>
              <a:ln w="19050" cap="rnd" cmpd="sng" algn="ctr">
                <a:solidFill>
                  <a:schemeClr val="accent2"/>
                </a:solidFill>
                <a:prstDash val="sysDot"/>
                <a:round/>
              </a:ln>
              <a:effectLst/>
            </c:spPr>
            <c:trendlineType val="linear"/>
            <c:dispRSqr val="0"/>
            <c:dispEq val="0"/>
          </c:trendline>
          <c:cat>
            <c:strRef>
              <c:f>'POOJA SURESH'!$A$5:$A$15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'POOJA SURESH'!$C$5:$C$15</c:f>
              <c:numCache>
                <c:formatCode>General</c:formatCode>
                <c:ptCount val="10"/>
                <c:pt idx="0">
                  <c:v>235.0</c:v>
                </c:pt>
                <c:pt idx="1">
                  <c:v>234.0</c:v>
                </c:pt>
                <c:pt idx="2">
                  <c:v>240.0</c:v>
                </c:pt>
                <c:pt idx="3">
                  <c:v>226.0</c:v>
                </c:pt>
                <c:pt idx="4">
                  <c:v>251.0</c:v>
                </c:pt>
                <c:pt idx="5">
                  <c:v>241.0</c:v>
                </c:pt>
                <c:pt idx="6">
                  <c:v>228.0</c:v>
                </c:pt>
                <c:pt idx="7">
                  <c:v>233.0</c:v>
                </c:pt>
                <c:pt idx="8">
                  <c:v>233.0</c:v>
                </c:pt>
                <c:pt idx="9">
                  <c:v>240.0</c:v>
                </c:pt>
              </c:numCache>
            </c:numRef>
          </c:val>
        </c:ser>
        <c:ser>
          <c:idx val="2"/>
          <c:order val="2"/>
          <c:tx>
            <c:strRef>
              <c:f>'POOJA SURESH'!$D$3:$D$4</c:f>
              <c:strCache>
                <c:ptCount val="1"/>
                <c:pt idx="0">
                  <c:v>Needs Improvement</c:v>
                </c:pt>
              </c:strCache>
            </c:strRef>
          </c:tx>
          <c:spPr>
            <a:solidFill>
              <a:schemeClr val="accent3"/>
            </a:solidFill>
            <a:ln>
              <a:noFill/>
            </a:ln>
            <a:effectLst/>
          </c:spPr>
          <c:invertIfNegative val="0"/>
          <c:dLbls>
            <c:delete val="1"/>
          </c:dLbls>
          <c:trendline>
            <c:spPr>
              <a:ln w="19050" cap="rnd" cmpd="sng" algn="ctr">
                <a:solidFill>
                  <a:schemeClr val="accent3"/>
                </a:solidFill>
                <a:prstDash val="sysDot"/>
                <a:round/>
              </a:ln>
              <a:effectLst/>
            </c:spPr>
            <c:trendlineType val="exp"/>
            <c:dispRSqr val="0"/>
            <c:dispEq val="0"/>
          </c:trendline>
          <c:cat>
            <c:strRef>
              <c:f>'POOJA SURESH'!$A$5:$A$15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'POOJA SURESH'!$D$5:$D$15</c:f>
              <c:numCache>
                <c:formatCode>General</c:formatCode>
                <c:ptCount val="10"/>
                <c:pt idx="0">
                  <c:v>24.0</c:v>
                </c:pt>
                <c:pt idx="1">
                  <c:v>17.0</c:v>
                </c:pt>
                <c:pt idx="2">
                  <c:v>16.0</c:v>
                </c:pt>
                <c:pt idx="3">
                  <c:v>20.0</c:v>
                </c:pt>
                <c:pt idx="4">
                  <c:v>11.0</c:v>
                </c:pt>
                <c:pt idx="5">
                  <c:v>16.0</c:v>
                </c:pt>
                <c:pt idx="6">
                  <c:v>23.0</c:v>
                </c:pt>
                <c:pt idx="7">
                  <c:v>20.0</c:v>
                </c:pt>
                <c:pt idx="8">
                  <c:v>15.0</c:v>
                </c:pt>
                <c:pt idx="9">
                  <c:v>15.0</c:v>
                </c:pt>
              </c:numCache>
            </c:numRef>
          </c:val>
        </c:ser>
        <c:ser>
          <c:idx val="3"/>
          <c:order val="3"/>
          <c:tx>
            <c:strRef>
              <c:f>'POOJA SURESH'!$E$3:$E$4</c:f>
              <c:strCache>
                <c:ptCount val="1"/>
                <c:pt idx="0">
                  <c:v>PIP</c:v>
                </c:pt>
              </c:strCache>
            </c:strRef>
          </c:tx>
          <c:spPr>
            <a:solidFill>
              <a:schemeClr val="accent4"/>
            </a:solidFill>
            <a:ln>
              <a:noFill/>
            </a:ln>
            <a:effectLst/>
          </c:spPr>
          <c:invertIfNegative val="0"/>
          <c:dLbls>
            <c:delete val="1"/>
          </c:dLbls>
          <c:cat>
            <c:strRef>
              <c:f>'POOJA SURESH'!$A$5:$A$15</c:f>
              <c:strCache>
                <c:ptCount val="10"/>
                <c:pt idx="0">
                  <c:v>BPC</c:v>
                </c:pt>
                <c:pt idx="1">
                  <c:v>CCDR</c:v>
                </c:pt>
                <c:pt idx="2">
                  <c:v>EW</c:v>
                </c:pt>
                <c:pt idx="3">
                  <c:v>MSC</c:v>
                </c:pt>
                <c:pt idx="4">
                  <c:v>NEL</c:v>
                </c:pt>
                <c:pt idx="5">
                  <c:v>PL</c:v>
                </c:pt>
                <c:pt idx="6">
                  <c:v>PYZ</c:v>
                </c:pt>
                <c:pt idx="7">
                  <c:v>SVG</c:v>
                </c:pt>
                <c:pt idx="8">
                  <c:v>TNS</c:v>
                </c:pt>
                <c:pt idx="9">
                  <c:v>WBL</c:v>
                </c:pt>
              </c:strCache>
            </c:strRef>
          </c:cat>
          <c:val>
            <c:numRef>
              <c:f>'POOJA SURESH'!$E$5:$E$15</c:f>
              <c:numCache>
                <c:formatCode>General</c:formatCode>
                <c:ptCount val="10"/>
                <c:pt idx="0">
                  <c:v>8.0</c:v>
                </c:pt>
                <c:pt idx="1">
                  <c:v>10.0</c:v>
                </c:pt>
                <c:pt idx="2">
                  <c:v>7.0</c:v>
                </c:pt>
                <c:pt idx="3">
                  <c:v>11.0</c:v>
                </c:pt>
                <c:pt idx="4">
                  <c:v>12.0</c:v>
                </c:pt>
                <c:pt idx="5">
                  <c:v>10.0</c:v>
                </c:pt>
                <c:pt idx="6">
                  <c:v>13.0</c:v>
                </c:pt>
                <c:pt idx="7">
                  <c:v>5.0</c:v>
                </c:pt>
                <c:pt idx="8">
                  <c:v>8.0</c:v>
                </c:pt>
                <c:pt idx="9">
                  <c:v>9.0</c:v>
                </c:pt>
              </c:numCache>
            </c:numRef>
          </c:val>
        </c:ser>
        <c:dLbls>
          <c:showLegendKey val="0"/>
          <c:showVal val="0"/>
          <c:showCatName val="0"/>
          <c:showSerName val="0"/>
          <c:showPercent val="0"/>
          <c:showBubbleSize val="0"/>
        </c:dLbls>
        <c:gapWidth val="219"/>
        <c:overlap val="-27"/>
        <c:axId val="574602104"/>
        <c:axId val="574599584"/>
      </c:barChart>
      <c:catAx>
        <c:axId val="574602104"/>
        <c:scaling>
          <c:orientation val="minMax"/>
        </c:scaling>
        <c:delete val="1"/>
        <c:axPos val="b"/>
        <c:numFmt formatCode="General" sourceLinked="1"/>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574599584"/>
        <c:crosses val="autoZero"/>
        <c:auto val="1"/>
        <c:lblAlgn val="ctr"/>
        <c:lblOffset val="100"/>
        <c:noMultiLvlLbl val="0"/>
      </c:catAx>
      <c:valAx>
        <c:axId val="574599584"/>
        <c:scaling>
          <c:orientation val="minMax"/>
        </c:scaling>
        <c:delete val="1"/>
        <c:axPos val="l"/>
        <c:majorGridlines>
          <c:spPr>
            <a:ln w="9525" cap="flat" cmpd="sng" algn="ctr">
              <a:solidFill>
                <a:schemeClr val="tx1">
                  <a:lumMod val="15000"/>
                  <a:lumOff val="85000"/>
                </a:schemeClr>
              </a:solidFill>
              <a:prstDash val="solid"/>
              <a:round/>
            </a:ln>
            <a:effectLst/>
          </c:spPr>
        </c:majorGridlines>
        <c:numFmt formatCode="General" sourceLinked="1"/>
        <c:majorTickMark val="none"/>
        <c:minorTickMark val="none"/>
        <c:tickLblPos val="nextTo"/>
        <c:txPr>
          <a:bodyPr rot="-60000000" spcFirstLastPara="0" vertOverflow="ellipsis" vert="horz" wrap="square" anchor="ctr" anchorCtr="1"/>
          <a:lstStyle/>
          <a:p>
            <a:pPr>
              <a:defRPr lang="en-US" sz="1000" b="0" i="0" u="none" strike="noStrike" kern="1200" baseline="0">
                <a:solidFill>
                  <a:schemeClr val="tx1"/>
                </a:solidFill>
                <a:latin typeface="+mn-lt"/>
                <a:ea typeface="+mn-ea"/>
                <a:cs typeface="+mn-cs"/>
              </a:defRPr>
            </a:pPr>
          </a:p>
        </c:txPr>
        <c:crossAx val="574602104"/>
        <c:crosses val="autoZero"/>
        <c:crossBetween val="between"/>
      </c:valAx>
    </c:plotArea>
    <c:legend>
      <c:legendPos val="r"/>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6" name=""/>
        <p:cNvGrpSpPr/>
        <p:nvPr/>
      </p:nvGrpSpPr>
      <p:grpSpPr>
        <a:xfrm>
          <a:off x="0" y="0"/>
          <a:ext cx="0" cy="0"/>
          <a:chOff x="0" y="0"/>
          <a:chExt cx="0" cy="0"/>
        </a:xfrm>
      </p:grpSpPr>
      <p:sp>
        <p:nvSpPr>
          <p:cNvPr id="1048693" name="Header Placeholder 1"/>
          <p:cNvSpPr>
            <a:spLocks noGrp="1"/>
          </p:cNvSpPr>
          <p:nvPr>
            <p:ph type="hdr" sz="quarter"/>
          </p:nvPr>
        </p:nvSpPr>
        <p:spPr>
          <a:xfrm>
            <a:off x="0" y="0"/>
            <a:ext cx="5283200" cy="344488"/>
          </a:xfrm>
          <a:prstGeom prst="rect"/>
        </p:spPr>
        <p:txBody>
          <a:bodyPr bIns="45720" lIns="91440" rIns="91440" rtlCol="0" tIns="45720" vert="horz"/>
          <a:lstStyle>
            <a:lvl1pPr algn="l">
              <a:defRPr sz="1200"/>
            </a:lvl1pPr>
          </a:lstStyle>
          <a:p>
            <a:endParaRPr lang="en-IN"/>
          </a:p>
        </p:txBody>
      </p:sp>
      <p:sp>
        <p:nvSpPr>
          <p:cNvPr id="1048694" name="Date Placeholder 2"/>
          <p:cNvSpPr>
            <a:spLocks noGrp="1"/>
          </p:cNvSpPr>
          <p:nvPr>
            <p:ph type="dt" idx="1"/>
          </p:nvPr>
        </p:nvSpPr>
        <p:spPr>
          <a:xfrm>
            <a:off x="6905625" y="0"/>
            <a:ext cx="5283200" cy="344488"/>
          </a:xfrm>
          <a:prstGeom prst="rect"/>
        </p:spPr>
        <p:txBody>
          <a:bodyPr bIns="45720" lIns="91440" rIns="91440" rtlCol="0" tIns="45720" vert="horz"/>
          <a:lstStyle>
            <a:lvl1pPr algn="r">
              <a:defRPr sz="1200"/>
            </a:lvl1pPr>
          </a:lstStyle>
          <a:p>
            <a:fld id="{84B86612-B127-4CD0-BF15-66D49A7175F7}" type="datetimeFigureOut">
              <a:rPr lang="en-IN" smtClean="0"/>
            </a:fld>
            <a:endParaRPr lang="en-IN"/>
          </a:p>
        </p:txBody>
      </p:sp>
      <p:sp>
        <p:nvSpPr>
          <p:cNvPr id="1048695" name="Slide Image Placeholder 3"/>
          <p:cNvSpPr>
            <a:spLocks noChangeAspect="1" noRot="1" noGrp="1"/>
          </p:cNvSpPr>
          <p:nvPr>
            <p:ph type="sldImg" idx="2"/>
          </p:nvPr>
        </p:nvSpPr>
        <p:spPr>
          <a:xfrm>
            <a:off x="4038600" y="857250"/>
            <a:ext cx="4114800" cy="2314575"/>
          </a:xfrm>
          <a:prstGeom prst="rect"/>
          <a:noFill/>
          <a:ln w="12700">
            <a:solidFill>
              <a:prstClr val="black"/>
            </a:solidFill>
          </a:ln>
        </p:spPr>
        <p:txBody>
          <a:bodyPr anchor="ctr" bIns="45720" lIns="91440" rIns="91440" rtlCol="0" tIns="45720" vert="horz"/>
          <a:p>
            <a:endParaRPr lang="en-IN"/>
          </a:p>
        </p:txBody>
      </p:sp>
      <p:sp>
        <p:nvSpPr>
          <p:cNvPr id="1048696" name="Notes Placeholder 4"/>
          <p:cNvSpPr>
            <a:spLocks noGrp="1"/>
          </p:cNvSpPr>
          <p:nvPr>
            <p:ph type="body" sz="quarter" idx="3"/>
          </p:nvPr>
        </p:nvSpPr>
        <p:spPr>
          <a:xfrm>
            <a:off x="1219200" y="3300413"/>
            <a:ext cx="9753600" cy="2700337"/>
          </a:xfrm>
          <a:prstGeom prst="rect"/>
        </p:spPr>
        <p:txBody>
          <a:bodyPr bIns="45720" lIns="91440" rIns="91440" rtlCol="0" tIns="45720" vert="horz"/>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1048697" name="Footer Placeholder 5"/>
          <p:cNvSpPr>
            <a:spLocks noGrp="1"/>
          </p:cNvSpPr>
          <p:nvPr>
            <p:ph type="ftr" sz="quarter" idx="4"/>
          </p:nvPr>
        </p:nvSpPr>
        <p:spPr>
          <a:xfrm>
            <a:off x="0" y="6513513"/>
            <a:ext cx="5283200" cy="344487"/>
          </a:xfrm>
          <a:prstGeom prst="rect"/>
        </p:spPr>
        <p:txBody>
          <a:bodyPr anchor="b" bIns="45720" lIns="91440" rIns="91440" rtlCol="0" tIns="45720" vert="horz"/>
          <a:lstStyle>
            <a:lvl1pPr algn="l">
              <a:defRPr sz="1200"/>
            </a:lvl1pPr>
          </a:lstStyle>
          <a:p>
            <a:endParaRPr lang="en-IN"/>
          </a:p>
        </p:txBody>
      </p:sp>
      <p:sp>
        <p:nvSpPr>
          <p:cNvPr id="1048698" name="Slide Number Placeholder 6"/>
          <p:cNvSpPr>
            <a:spLocks noGrp="1"/>
          </p:cNvSpPr>
          <p:nvPr>
            <p:ph type="sldNum" sz="quarter" idx="5"/>
          </p:nvPr>
        </p:nvSpPr>
        <p:spPr>
          <a:xfrm>
            <a:off x="6905625" y="6513513"/>
            <a:ext cx="5283200" cy="344487"/>
          </a:xfrm>
          <a:prstGeom prst="rect"/>
        </p:spPr>
        <p:txBody>
          <a:bodyPr anchor="b" bIns="45720" lIns="91440" rIns="91440" rtlCol="0" tIns="45720" vert="horz"/>
          <a:lstStyle>
            <a:lvl1pPr algn="r">
              <a:defRPr sz="1200"/>
            </a:lvl1pPr>
          </a:lstStyle>
          <a:p>
            <a:fld id="{F7F439ED-1E90-4106-847A-8EF19031FE2F}" type="slidenum">
              <a:rPr lang="en-IN" smtClean="0"/>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endParaRPr dirty="0" lang="en-IN"/>
          </a:p>
        </p:txBody>
      </p:sp>
      <p:sp>
        <p:nvSpPr>
          <p:cNvPr id="1048605" name="Slide Number Placeholder 3"/>
          <p:cNvSpPr>
            <a:spLocks noGrp="1"/>
          </p:cNvSpPr>
          <p:nvPr>
            <p:ph type="sldNum" sz="quarter" idx="5"/>
          </p:nvPr>
        </p:nvSpPr>
        <p:spPr/>
        <p:txBody>
          <a:bodyPr/>
          <a:p>
            <a:fld id="{F7F439ED-1E90-4106-847A-8EF19031FE2F}"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8" name=""/>
        <p:cNvGrpSpPr/>
        <p:nvPr/>
      </p:nvGrpSpPr>
      <p:grpSpPr>
        <a:xfrm>
          <a:off x="0" y="0"/>
          <a:ext cx="0" cy="0"/>
          <a:chOff x="0" y="0"/>
          <a:chExt cx="0" cy="0"/>
        </a:xfrm>
      </p:grpSpPr>
      <p:sp>
        <p:nvSpPr>
          <p:cNvPr id="1048591" name="Holder 2"/>
          <p:cNvSpPr>
            <a:spLocks noGrp="1"/>
          </p:cNvSpPr>
          <p:nvPr>
            <p:ph type="ctrTitle"/>
          </p:nvPr>
        </p:nvSpPr>
        <p:spPr>
          <a:xfrm>
            <a:off x="3195574" y="2067305"/>
            <a:ext cx="5800851" cy="518160"/>
          </a:xfrm>
          <a:prstGeom prst="rect"/>
        </p:spPr>
        <p:txBody>
          <a:bodyPr bIns="0" lIns="0" rIns="0" tIns="0" wrap="square">
            <a:spAutoFit/>
          </a:bodyPr>
          <a:lstStyle>
            <a:lvl1pPr>
              <a:defRPr b="0" sz="3200" i="0">
                <a:solidFill>
                  <a:schemeClr val="tx1"/>
                </a:solidFill>
                <a:latin typeface="Trebuchet MS" panose="020B0603020202020204"/>
                <a:cs typeface="Trebuchet MS" panose="020B0603020202020204"/>
              </a:defRPr>
            </a:lvl1pPr>
          </a:lstStyle>
          <a:p/>
        </p:txBody>
      </p:sp>
      <p:sp>
        <p:nvSpPr>
          <p:cNvPr id="1048592" name="Holder 3"/>
          <p:cNvSpPr>
            <a:spLocks noGrp="1"/>
          </p:cNvSpPr>
          <p:nvPr>
            <p:ph type="subTitle" idx="4"/>
          </p:nvPr>
        </p:nvSpPr>
        <p:spPr>
          <a:xfrm>
            <a:off x="1828800" y="3840480"/>
            <a:ext cx="8534400" cy="1714500"/>
          </a:xfrm>
          <a:prstGeom prst="rect"/>
        </p:spPr>
        <p:txBody>
          <a:bodyPr bIns="0" lIns="0" rIns="0" tIns="0" wrap="square">
            <a:spAutoFit/>
          </a:bodyPr>
          <a:p/>
        </p:txBody>
      </p:sp>
      <p:sp>
        <p:nvSpPr>
          <p:cNvPr id="1048593"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94"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fld>
            <a:endParaRPr lang="en-US"/>
          </a:p>
        </p:txBody>
      </p:sp>
      <p:sp>
        <p:nvSpPr>
          <p:cNvPr id="1048595" name="Holder 6"/>
          <p:cNvSpPr>
            <a:spLocks noGrp="1"/>
          </p:cNvSpPr>
          <p:nvPr>
            <p:ph type="sldNum" sz="quarter" idx="7"/>
          </p:nvPr>
        </p:nvSpPr>
        <p:spPr/>
        <p:txBody>
          <a:bodyPr bIns="0" lIns="0" rIns="0" tIns="0"/>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3" name=""/>
        <p:cNvGrpSpPr/>
        <p:nvPr/>
      </p:nvGrpSpPr>
      <p:grpSpPr>
        <a:xfrm>
          <a:off x="0" y="0"/>
          <a:ext cx="0" cy="0"/>
          <a:chOff x="0" y="0"/>
          <a:chExt cx="0" cy="0"/>
        </a:xfrm>
      </p:grpSpPr>
      <p:sp>
        <p:nvSpPr>
          <p:cNvPr id="1048679" name="Holder 2"/>
          <p:cNvSpPr>
            <a:spLocks noGrp="1"/>
          </p:cNvSpPr>
          <p:nvPr>
            <p:ph type="title"/>
          </p:nvPr>
        </p:nvSpPr>
        <p:spPr/>
        <p:txBody>
          <a:bodyPr bIns="0" lIns="0" rIns="0" tIns="0"/>
          <a:lstStyle>
            <a:lvl1pPr>
              <a:defRPr b="1" sz="4800" i="0">
                <a:solidFill>
                  <a:schemeClr val="tx1"/>
                </a:solidFill>
                <a:latin typeface="Trebuchet MS" panose="020B0603020202020204"/>
                <a:cs typeface="Trebuchet MS" panose="020B0603020202020204"/>
              </a:defRPr>
            </a:lvl1pPr>
          </a:lstStyle>
          <a:p/>
        </p:txBody>
      </p:sp>
      <p:sp>
        <p:nvSpPr>
          <p:cNvPr id="1048680" name="Holder 3"/>
          <p:cNvSpPr>
            <a:spLocks noGrp="1"/>
          </p:cNvSpPr>
          <p:nvPr>
            <p:ph type="body" idx="1"/>
          </p:nvPr>
        </p:nvSpPr>
        <p:spPr/>
        <p:txBody>
          <a:bodyPr bIns="0" lIns="0" rIns="0" tIns="0"/>
          <a:p/>
        </p:txBody>
      </p:sp>
      <p:sp>
        <p:nvSpPr>
          <p:cNvPr id="1048681"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82"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fld>
            <a:endParaRPr lang="en-US"/>
          </a:p>
        </p:txBody>
      </p:sp>
      <p:sp>
        <p:nvSpPr>
          <p:cNvPr id="1048683" name="Holder 6"/>
          <p:cNvSpPr>
            <a:spLocks noGrp="1"/>
          </p:cNvSpPr>
          <p:nvPr>
            <p:ph type="sldNum" sz="quarter" idx="7"/>
          </p:nvPr>
        </p:nvSpPr>
        <p:spPr/>
        <p:txBody>
          <a:bodyPr bIns="0" lIns="0" rIns="0" tIns="0"/>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4" name=""/>
        <p:cNvGrpSpPr/>
        <p:nvPr/>
      </p:nvGrpSpPr>
      <p:grpSpPr>
        <a:xfrm>
          <a:off x="0" y="0"/>
          <a:ext cx="0" cy="0"/>
          <a:chOff x="0" y="0"/>
          <a:chExt cx="0" cy="0"/>
        </a:xfrm>
      </p:grpSpPr>
      <p:sp>
        <p:nvSpPr>
          <p:cNvPr id="1048684" name="Holder 2"/>
          <p:cNvSpPr>
            <a:spLocks noGrp="1"/>
          </p:cNvSpPr>
          <p:nvPr>
            <p:ph type="title"/>
          </p:nvPr>
        </p:nvSpPr>
        <p:spPr/>
        <p:txBody>
          <a:bodyPr bIns="0" lIns="0" rIns="0" tIns="0"/>
          <a:lstStyle>
            <a:lvl1pPr>
              <a:defRPr b="1" sz="4800" i="0">
                <a:solidFill>
                  <a:schemeClr val="tx1"/>
                </a:solidFill>
                <a:latin typeface="Trebuchet MS" panose="020B0603020202020204"/>
                <a:cs typeface="Trebuchet MS" panose="020B0603020202020204"/>
              </a:defRPr>
            </a:lvl1pPr>
          </a:lstStyle>
          <a:p/>
        </p:txBody>
      </p:sp>
      <p:sp>
        <p:nvSpPr>
          <p:cNvPr id="1048685" name="Holder 3"/>
          <p:cNvSpPr>
            <a:spLocks noGrp="1"/>
          </p:cNvSpPr>
          <p:nvPr>
            <p:ph sz="half" idx="2"/>
          </p:nvPr>
        </p:nvSpPr>
        <p:spPr>
          <a:xfrm>
            <a:off x="609600" y="1577340"/>
            <a:ext cx="5303520" cy="4526280"/>
          </a:xfrm>
          <a:prstGeom prst="rect"/>
        </p:spPr>
        <p:txBody>
          <a:bodyPr bIns="0" lIns="0" rIns="0" tIns="0" wrap="square">
            <a:spAutoFit/>
          </a:bodyPr>
          <a:p/>
        </p:txBody>
      </p:sp>
      <p:sp>
        <p:nvSpPr>
          <p:cNvPr id="1048686" name="Holder 4"/>
          <p:cNvSpPr>
            <a:spLocks noGrp="1"/>
          </p:cNvSpPr>
          <p:nvPr>
            <p:ph sz="half" idx="3"/>
          </p:nvPr>
        </p:nvSpPr>
        <p:spPr>
          <a:xfrm>
            <a:off x="6278880" y="1577340"/>
            <a:ext cx="5303520" cy="4526280"/>
          </a:xfrm>
          <a:prstGeom prst="rect"/>
        </p:spPr>
        <p:txBody>
          <a:bodyPr bIns="0" lIns="0" rIns="0" tIns="0" wrap="square">
            <a:spAutoFit/>
          </a:bodyPr>
          <a:p/>
        </p:txBody>
      </p:sp>
      <p:sp>
        <p:nvSpPr>
          <p:cNvPr id="1048687"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88"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fld>
            <a:endParaRPr lang="en-US"/>
          </a:p>
        </p:txBody>
      </p:sp>
      <p:sp>
        <p:nvSpPr>
          <p:cNvPr id="1048689" name="Holder 7"/>
          <p:cNvSpPr>
            <a:spLocks noGrp="1"/>
          </p:cNvSpPr>
          <p:nvPr>
            <p:ph type="sldNum" sz="quarter" idx="7"/>
          </p:nvPr>
        </p:nvSpPr>
        <p:spPr/>
        <p:txBody>
          <a:bodyPr bIns="0" lIns="0" rIns="0" tIns="0"/>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25" name=""/>
        <p:cNvGrpSpPr/>
        <p:nvPr/>
      </p:nvGrpSpPr>
      <p:grpSpPr>
        <a:xfrm>
          <a:off x="0" y="0"/>
          <a:ext cx="0" cy="0"/>
          <a:chOff x="0" y="0"/>
          <a:chExt cx="0" cy="0"/>
        </a:xfrm>
      </p:grpSpPr>
      <p:sp>
        <p:nvSpPr>
          <p:cNvPr id="1048606" name="Holder 2"/>
          <p:cNvSpPr>
            <a:spLocks noGrp="1"/>
          </p:cNvSpPr>
          <p:nvPr>
            <p:ph type="title"/>
          </p:nvPr>
        </p:nvSpPr>
        <p:spPr/>
        <p:txBody>
          <a:bodyPr bIns="0" lIns="0" rIns="0" tIns="0"/>
          <a:lstStyle>
            <a:lvl1pPr>
              <a:defRPr b="1" sz="4800" i="0">
                <a:solidFill>
                  <a:schemeClr val="tx1"/>
                </a:solidFill>
                <a:latin typeface="Trebuchet MS" panose="020B0603020202020204"/>
                <a:cs typeface="Trebuchet MS" panose="020B0603020202020204"/>
              </a:defRPr>
            </a:lvl1pPr>
          </a:lstStyle>
          <a:p/>
        </p:txBody>
      </p:sp>
      <p:sp>
        <p:nvSpPr>
          <p:cNvPr id="1048607"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08"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fld>
            <a:endParaRPr lang="en-US"/>
          </a:p>
        </p:txBody>
      </p:sp>
      <p:sp>
        <p:nvSpPr>
          <p:cNvPr id="1048609" name="Holder 5"/>
          <p:cNvSpPr>
            <a:spLocks noGrp="1"/>
          </p:cNvSpPr>
          <p:nvPr>
            <p:ph type="sldNum" sz="quarter" idx="7"/>
          </p:nvPr>
        </p:nvSpPr>
        <p:spPr/>
        <p:txBody>
          <a:bodyPr bIns="0" lIns="0" rIns="0" tIns="0"/>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5" name=""/>
        <p:cNvGrpSpPr/>
        <p:nvPr/>
      </p:nvGrpSpPr>
      <p:grpSpPr>
        <a:xfrm>
          <a:off x="0" y="0"/>
          <a:ext cx="0" cy="0"/>
          <a:chOff x="0" y="0"/>
          <a:chExt cx="0" cy="0"/>
        </a:xfrm>
      </p:grpSpPr>
      <p:sp>
        <p:nvSpPr>
          <p:cNvPr id="1048690"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1"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fld>
            <a:endParaRPr lang="en-US"/>
          </a:p>
        </p:txBody>
      </p:sp>
      <p:sp>
        <p:nvSpPr>
          <p:cNvPr id="1048692" name="Holder 4"/>
          <p:cNvSpPr>
            <a:spLocks noGrp="1"/>
          </p:cNvSpPr>
          <p:nvPr>
            <p:ph type="sldNum" sz="quarter" idx="7"/>
          </p:nvPr>
        </p:nvSpPr>
        <p:spPr/>
        <p:txBody>
          <a:bodyPr bIns="0" lIns="0" rIns="0" tIns="0"/>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 name=""/>
        <p:cNvGrpSpPr/>
        <p:nvPr/>
      </p:nvGrpSpPr>
      <p:grpSpPr>
        <a:xfrm>
          <a:off x="0" y="0"/>
          <a:ext cx="0" cy="0"/>
          <a:chOff x="0" y="0"/>
          <a:chExt cx="0" cy="0"/>
        </a:xfrm>
      </p:grpSpPr>
      <p:sp>
        <p:nvSpPr>
          <p:cNvPr id="1048576" name="bg object 16"/>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577" name="bg object 17"/>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578" name="bg object 18"/>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579" name="bg object 19"/>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580" name="bg object 20"/>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581" name="bg object 21"/>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582" name="bg object 22"/>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583" name="bg object 23"/>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584" name="bg object 24"/>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sp>
        <p:nvSpPr>
          <p:cNvPr id="1048585" name="bg object 25"/>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586" name="Holder 2"/>
          <p:cNvSpPr>
            <a:spLocks noGrp="1"/>
          </p:cNvSpPr>
          <p:nvPr>
            <p:ph type="title"/>
          </p:nvPr>
        </p:nvSpPr>
        <p:spPr>
          <a:xfrm>
            <a:off x="755332" y="385444"/>
            <a:ext cx="10681335" cy="758190"/>
          </a:xfrm>
          <a:prstGeom prst="rect"/>
        </p:spPr>
        <p:txBody>
          <a:bodyPr bIns="0" lIns="0" rIns="0" tIns="0" wrap="square">
            <a:spAutoFit/>
          </a:bodyPr>
          <a:lstStyle>
            <a:lvl1pPr>
              <a:defRPr b="1" sz="4800" i="0">
                <a:solidFill>
                  <a:schemeClr val="tx1"/>
                </a:solidFill>
                <a:latin typeface="Trebuchet MS" panose="020B0603020202020204"/>
                <a:cs typeface="Trebuchet MS" panose="020B0603020202020204"/>
              </a:defRPr>
            </a:lvl1pPr>
          </a:lstStyle>
          <a:p/>
        </p:txBody>
      </p:sp>
      <p:sp>
        <p:nvSpPr>
          <p:cNvPr id="1048587" name="Holder 3"/>
          <p:cNvSpPr>
            <a:spLocks noGrp="1"/>
          </p:cNvSpPr>
          <p:nvPr>
            <p:ph type="body" idx="1"/>
          </p:nvPr>
        </p:nvSpPr>
        <p:spPr>
          <a:xfrm>
            <a:off x="609600" y="1577340"/>
            <a:ext cx="10972800" cy="4526280"/>
          </a:xfrm>
          <a:prstGeom prst="rect"/>
        </p:spPr>
        <p:txBody>
          <a:bodyPr bIns="0" lIns="0" rIns="0" tIns="0" wrap="square">
            <a:spAutoFit/>
          </a:bodyPr>
          <a:p/>
        </p:txBody>
      </p:sp>
      <p:sp>
        <p:nvSpPr>
          <p:cNvPr id="1048588" name="Holder 4"/>
          <p:cNvSpPr>
            <a:spLocks noGrp="1"/>
          </p:cNvSpPr>
          <p:nvPr>
            <p:ph type="ftr" sz="quarter" idx="5"/>
          </p:nvPr>
        </p:nvSpPr>
        <p:spPr>
          <a:xfrm>
            <a:off x="4145280" y="6377940"/>
            <a:ext cx="3901440" cy="342900"/>
          </a:xfrm>
          <a:prstGeom prst="rect"/>
        </p:spPr>
        <p:txBody>
          <a:bodyPr bIns="0" lIns="0" rIns="0" tIns="0" wrap="square">
            <a:spAutoFit/>
          </a:bodyPr>
          <a:lstStyle>
            <a:lvl1pPr algn="ctr">
              <a:defRPr>
                <a:solidFill>
                  <a:schemeClr val="tx1">
                    <a:tint val="75000"/>
                  </a:schemeClr>
                </a:solidFill>
              </a:defRPr>
            </a:lvl1pPr>
          </a:lstStyle>
          <a:p/>
        </p:txBody>
      </p:sp>
      <p:sp>
        <p:nvSpPr>
          <p:cNvPr id="1048589" name="Holder 5"/>
          <p:cNvSpPr>
            <a:spLocks noGrp="1"/>
          </p:cNvSpPr>
          <p:nvPr>
            <p:ph type="dt" sz="half" idx="6"/>
          </p:nvPr>
        </p:nvSpPr>
        <p:spPr>
          <a:xfrm>
            <a:off x="609600" y="6377940"/>
            <a:ext cx="2804160" cy="34290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1048590" name="Holder 6"/>
          <p:cNvSpPr>
            <a:spLocks noGrp="1"/>
          </p:cNvSpPr>
          <p:nvPr>
            <p:ph type="sldNum" sz="quarter" idx="7"/>
          </p:nvPr>
        </p:nvSpPr>
        <p:spPr>
          <a:xfrm>
            <a:off x="11353418" y="6473337"/>
            <a:ext cx="151129" cy="191770"/>
          </a:xfrm>
          <a:prstGeom prst="rect"/>
        </p:spPr>
        <p:txBody>
          <a:bodyPr bIns="0" lIns="0" rIns="0" tIns="0" wrap="square">
            <a:spAutoFit/>
          </a:bodyPr>
          <a:lstStyle>
            <a:lvl1pPr>
              <a:defRPr b="0" sz="110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dirty="0" spc="10"/>
            </a:fld>
            <a:endParaRPr dirty="0" spc="10"/>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jpe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0.png"/><Relationship Id="rId3"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grpSp>
        <p:nvGrpSpPr>
          <p:cNvPr id="20" name="object 2"/>
          <p:cNvGrpSpPr/>
          <p:nvPr/>
        </p:nvGrpSpPr>
        <p:grpSpPr>
          <a:xfrm>
            <a:off x="876299" y="990600"/>
            <a:ext cx="1743075" cy="1333500"/>
            <a:chOff x="742950" y="1104900"/>
            <a:chExt cx="1743075" cy="1333500"/>
          </a:xfrm>
        </p:grpSpPr>
        <p:sp>
          <p:nvSpPr>
            <p:cNvPr id="1048596" name="object 3"/>
            <p:cNvSpPr/>
            <p:nvPr/>
          </p:nvSpPr>
          <p:spPr>
            <a:xfrm>
              <a:off x="742950" y="1381125"/>
              <a:ext cx="1228725" cy="1057275"/>
            </a:xfrm>
            <a:custGeom>
              <a:avLst/>
              <a:ah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bIns="0" lIns="0" rIns="0" rtlCol="0" tIns="0" wrap="square"/>
            <a:p/>
          </p:txBody>
        </p:sp>
        <p:sp>
          <p:nvSpPr>
            <p:cNvPr id="1048597" name="object 4"/>
            <p:cNvSpPr/>
            <p:nvPr/>
          </p:nvSpPr>
          <p:spPr>
            <a:xfrm>
              <a:off x="1838325" y="1104900"/>
              <a:ext cx="647700" cy="561975"/>
            </a:xfrm>
            <a:custGeom>
              <a:avLst/>
              <a:ah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bIns="0" lIns="0" rIns="0" rtlCol="0" tIns="0" wrap="square"/>
            <a:p/>
          </p:txBody>
        </p:sp>
      </p:grpSp>
      <p:sp>
        <p:nvSpPr>
          <p:cNvPr id="1048598" name="object 5"/>
          <p:cNvSpPr/>
          <p:nvPr/>
        </p:nvSpPr>
        <p:spPr>
          <a:xfrm>
            <a:off x="3752850" y="1190625"/>
            <a:ext cx="1666875" cy="1438275"/>
          </a:xfrm>
          <a:custGeom>
            <a:avLst/>
            <a:ah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bIns="0" lIns="0" rIns="0" rtlCol="0" tIns="0" wrap="square"/>
          <a:p/>
        </p:txBody>
      </p:sp>
      <p:sp>
        <p:nvSpPr>
          <p:cNvPr id="1048599" name="object 6"/>
          <p:cNvSpPr/>
          <p:nvPr/>
        </p:nvSpPr>
        <p:spPr>
          <a:xfrm>
            <a:off x="3800475" y="5229225"/>
            <a:ext cx="723900" cy="619125"/>
          </a:xfrm>
          <a:custGeom>
            <a:avLst/>
            <a:ah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bIns="0" lIns="0" rIns="0" rtlCol="0" tIns="0" wrap="square"/>
          <a:p/>
        </p:txBody>
      </p:sp>
      <p:sp>
        <p:nvSpPr>
          <p:cNvPr id="1048600" name="object 7"/>
          <p:cNvSpPr txBox="1">
            <a:spLocks noGrp="1"/>
          </p:cNvSpPr>
          <p:nvPr>
            <p:ph type="ctrTitle"/>
          </p:nvPr>
        </p:nvSpPr>
        <p:spPr>
          <a:xfrm>
            <a:off x="-533400" y="228580"/>
            <a:ext cx="9982200" cy="1001556"/>
          </a:xfrm>
          <a:prstGeom prst="rect"/>
        </p:spPr>
        <p:txBody>
          <a:bodyPr bIns="0" lIns="0" rIns="0" rtlCol="0" tIns="16510" vert="horz" wrap="square">
            <a:spAutoFit/>
          </a:bodyPr>
          <a:p>
            <a:pPr marL="3213735">
              <a:spcBef>
                <a:spcPts val="130"/>
              </a:spcBef>
            </a:pPr>
            <a:r>
              <a:rPr b="1" dirty="0" lang="en-US">
                <a:solidFill>
                  <a:srgbClr val="0F0F0F"/>
                </a:solidFill>
                <a:latin typeface="Times New Roman" panose="02020603050405020304" pitchFamily="18" charset="0"/>
                <a:cs typeface="Times New Roman" panose="02020603050405020304" pitchFamily="18" charset="0"/>
              </a:rPr>
              <a:t>Employee Data Analysis using Excel</a:t>
            </a:r>
            <a:r>
              <a:rPr b="1" dirty="0" i="0" lang="en-US">
                <a:solidFill>
                  <a:srgbClr val="0F0F0F"/>
                </a:solidFill>
                <a:effectLst/>
                <a:latin typeface="Times New Roman" panose="02020603050405020304" pitchFamily="18" charset="0"/>
                <a:cs typeface="Times New Roman" panose="02020603050405020304" pitchFamily="18" charset="0"/>
              </a:rPr>
              <a:t> </a:t>
            </a:r>
            <a:br>
              <a:rPr b="1" dirty="0" i="0" lang="en-US">
                <a:solidFill>
                  <a:srgbClr val="0F0F0F"/>
                </a:solidFill>
                <a:effectLst/>
                <a:latin typeface="Roboto" panose="020F0502020204030204" pitchFamily="2" charset="0"/>
              </a:rPr>
            </a:br>
            <a:endParaRPr dirty="0" spc="15"/>
          </a:p>
        </p:txBody>
      </p:sp>
      <p:pic>
        <p:nvPicPr>
          <p:cNvPr id="2097152" name="object 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01" name="object 11"/>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1</a:t>
            </a:fld>
            <a:endParaRPr dirty="0" spc="10"/>
          </a:p>
        </p:txBody>
      </p:sp>
      <p:sp>
        <p:nvSpPr>
          <p:cNvPr id="1048602" name="TextBox 13"/>
          <p:cNvSpPr txBox="1"/>
          <p:nvPr/>
        </p:nvSpPr>
        <p:spPr>
          <a:xfrm>
            <a:off x="1219488" y="2629053"/>
            <a:ext cx="8610600" cy="1869441"/>
          </a:xfrm>
          <a:prstGeom prst="rect"/>
          <a:noFill/>
        </p:spPr>
        <p:txBody>
          <a:bodyPr rtlCol="0" wrap="square">
            <a:spAutoFit/>
          </a:bodyPr>
          <a:p>
            <a:r>
              <a:rPr dirty="0" sz="2400" lang="en-US"/>
              <a:t>STUDENT NAME</a:t>
            </a:r>
            <a:r>
              <a:rPr dirty="0" sz="2400" lang="en-IN"/>
              <a:t>:</a:t>
            </a:r>
            <a:r>
              <a:rPr altLang="en-IN" dirty="0" sz="2400" lang="en-GB"/>
              <a:t>   </a:t>
            </a:r>
            <a:r>
              <a:rPr altLang="en-IN" dirty="0" sz="2400" lang="en-US"/>
              <a:t>S</a:t>
            </a:r>
            <a:r>
              <a:rPr altLang="en-IN" dirty="0" sz="2400" lang="en-US"/>
              <a:t>H</a:t>
            </a:r>
            <a:r>
              <a:rPr altLang="en-IN" dirty="0" sz="2400" lang="en-US"/>
              <a:t>A</a:t>
            </a:r>
            <a:r>
              <a:rPr altLang="en-IN" dirty="0" sz="2400" lang="en-US"/>
              <a:t>K</a:t>
            </a:r>
            <a:r>
              <a:rPr altLang="en-IN" dirty="0" sz="2400" lang="en-US"/>
              <a:t>T</a:t>
            </a:r>
            <a:r>
              <a:rPr altLang="en-IN" dirty="0" sz="2400" lang="en-US"/>
              <a:t>H</a:t>
            </a:r>
            <a:r>
              <a:rPr altLang="en-IN" dirty="0" sz="2400" lang="en-US"/>
              <a:t>I</a:t>
            </a:r>
            <a:r>
              <a:rPr altLang="en-IN" dirty="0" sz="2400" lang="en-US"/>
              <a:t> </a:t>
            </a:r>
            <a:r>
              <a:rPr altLang="en-IN" dirty="0" sz="2400" lang="en-US"/>
              <a:t>T</a:t>
            </a:r>
            <a:endParaRPr dirty="0" sz="2400" lang="en-US"/>
          </a:p>
          <a:p>
            <a:r>
              <a:rPr dirty="0" sz="2400" lang="en-US"/>
              <a:t>REGISTER NO: </a:t>
            </a:r>
            <a:r>
              <a:rPr dirty="0" sz="2400" lang="en-IN"/>
              <a:t> </a:t>
            </a:r>
            <a:r>
              <a:rPr altLang="en-IN" dirty="0" sz="2400" lang="en-GB"/>
              <a:t>      3122194</a:t>
            </a:r>
            <a:r>
              <a:rPr altLang="en-IN" dirty="0" sz="2400" lang="en-US"/>
              <a:t>7</a:t>
            </a:r>
            <a:r>
              <a:rPr altLang="en-IN" dirty="0" sz="2400" lang="en-US"/>
              <a:t>4</a:t>
            </a:r>
            <a:endParaRPr dirty="0" sz="2400" lang="en-US"/>
          </a:p>
          <a:p>
            <a:r>
              <a:rPr dirty="0" sz="2400" lang="en-US"/>
              <a:t>DEPARTMENT: </a:t>
            </a:r>
            <a:r>
              <a:rPr altLang="en-US" dirty="0" sz="2400" lang="en-GB"/>
              <a:t>       III B.COM GENERAL </a:t>
            </a:r>
            <a:endParaRPr dirty="0" sz="2400" lang="en-US"/>
          </a:p>
          <a:p>
            <a:r>
              <a:rPr dirty="0" sz="2400" lang="en-US"/>
              <a:t>COLLEGE:</a:t>
            </a:r>
            <a:r>
              <a:rPr altLang="en-US" dirty="0" sz="2400" lang="en-GB"/>
              <a:t>                S.A. COLLEGE OF ARTS &amp; SCIENCE</a:t>
            </a:r>
            <a:r>
              <a:rPr dirty="0" sz="2400" lang="en-US"/>
              <a:t> </a:t>
            </a:r>
            <a:endParaRPr dirty="0" sz="2400" lang="en-US"/>
          </a:p>
          <a:p>
            <a:r>
              <a:rPr dirty="0" sz="2400" lang="en-US"/>
              <a:t>           </a:t>
            </a:r>
            <a:endParaRPr dirty="0" sz="240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26" name=""/>
        <p:cNvGrpSpPr/>
        <p:nvPr/>
      </p:nvGrpSpPr>
      <p:grpSpPr>
        <a:xfrm>
          <a:off x="0" y="0"/>
          <a:ext cx="0" cy="0"/>
          <a:chOff x="0" y="0"/>
          <a:chExt cx="0" cy="0"/>
        </a:xfrm>
      </p:grpSpPr>
      <p:sp>
        <p:nvSpPr>
          <p:cNvPr id="1048610" name="object 2"/>
          <p:cNvSpPr/>
          <p:nvPr/>
        </p:nvSpPr>
        <p:spPr>
          <a:xfrm>
            <a:off x="0" y="4825"/>
            <a:ext cx="12192000"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latin typeface="Times New Roman" panose="02020603050405020304" pitchFamily="18" charset="0"/>
              <a:cs typeface="Times New Roman" panose="02020603050405020304" pitchFamily="18" charset="0"/>
            </a:endParaRPr>
          </a:p>
        </p:txBody>
      </p:sp>
      <p:grpSp>
        <p:nvGrpSpPr>
          <p:cNvPr id="27" name="object 3"/>
          <p:cNvGrpSpPr/>
          <p:nvPr/>
        </p:nvGrpSpPr>
        <p:grpSpPr>
          <a:xfrm>
            <a:off x="7443849" y="0"/>
            <a:ext cx="4752975" cy="6863080"/>
            <a:chOff x="7443849" y="0"/>
            <a:chExt cx="4752975" cy="6863080"/>
          </a:xfrm>
        </p:grpSpPr>
        <p:sp>
          <p:nvSpPr>
            <p:cNvPr id="1048611"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12"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13"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14"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15"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16"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17"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18"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19"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20"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21" name="object 14"/>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22" name="object 15"/>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23" name="object 16"/>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24" name="object 17"/>
          <p:cNvSpPr txBox="1">
            <a:spLocks noGrp="1"/>
          </p:cNvSpPr>
          <p:nvPr>
            <p:ph type="title"/>
          </p:nvPr>
        </p:nvSpPr>
        <p:spPr>
          <a:xfrm>
            <a:off x="739775" y="829627"/>
            <a:ext cx="3909695" cy="638810"/>
          </a:xfrm>
          <a:prstGeom prst="rect"/>
        </p:spPr>
        <p:txBody>
          <a:bodyPr bIns="0" lIns="0" rIns="0" rtlCol="0" tIns="16510" vert="horz" wrap="square">
            <a:spAutoFit/>
          </a:bodyPr>
          <a:p>
            <a:pPr marL="12700">
              <a:lnSpc>
                <a:spcPct val="100000"/>
              </a:lnSpc>
              <a:spcBef>
                <a:spcPts val="130"/>
              </a:spcBef>
            </a:pPr>
            <a:r>
              <a:rPr dirty="0" sz="4250" spc="5"/>
              <a:t>PROJECT</a:t>
            </a:r>
            <a:r>
              <a:rPr dirty="0" sz="4250" spc="-85"/>
              <a:t> </a:t>
            </a:r>
            <a:r>
              <a:rPr dirty="0" sz="4250" spc="25"/>
              <a:t>TITLE</a:t>
            </a:r>
            <a:endParaRPr sz="4250"/>
          </a:p>
        </p:txBody>
      </p:sp>
      <p:grpSp>
        <p:nvGrpSpPr>
          <p:cNvPr id="28" name="object 18"/>
          <p:cNvGrpSpPr/>
          <p:nvPr/>
        </p:nvGrpSpPr>
        <p:grpSpPr>
          <a:xfrm>
            <a:off x="466725" y="6410325"/>
            <a:ext cx="3705225" cy="295275"/>
            <a:chOff x="466725" y="6410325"/>
            <a:chExt cx="3705225" cy="295275"/>
          </a:xfrm>
        </p:grpSpPr>
        <p:pic>
          <p:nvPicPr>
            <p:cNvPr id="2097153" name="object 1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pic>
          <p:nvPicPr>
            <p:cNvPr id="2097154" name="object 20"/>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grpSp>
      <p:sp>
        <p:nvSpPr>
          <p:cNvPr id="1048625"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2</a:t>
            </a:fld>
            <a:endParaRPr dirty="0" spc="10"/>
          </a:p>
        </p:txBody>
      </p:sp>
      <p:sp>
        <p:nvSpPr>
          <p:cNvPr id="1048626" name="TextBox 22"/>
          <p:cNvSpPr txBox="1"/>
          <p:nvPr/>
        </p:nvSpPr>
        <p:spPr>
          <a:xfrm>
            <a:off x="1217522" y="2123271"/>
            <a:ext cx="8593228" cy="2072640"/>
          </a:xfrm>
          <a:prstGeom prst="rect"/>
          <a:noFill/>
        </p:spPr>
        <p:txBody>
          <a:bodyPr rtlCol="0" wrap="square">
            <a:spAutoFit/>
          </a:bodyPr>
          <a:p>
            <a:r>
              <a:rPr b="1" dirty="0" sz="4400" lang="en-US">
                <a:solidFill>
                  <a:srgbClr val="0F0F0F"/>
                </a:solidFill>
                <a:latin typeface="Times New Roman" panose="02020603050405020304" pitchFamily="18" charset="0"/>
                <a:cs typeface="Times New Roman" panose="02020603050405020304" pitchFamily="18" charset="0"/>
              </a:rPr>
              <a:t>Employee Performance Analysis using Excel:</a:t>
            </a:r>
            <a:endParaRPr b="1" dirty="0" sz="4400" lang="en-US">
              <a:solidFill>
                <a:srgbClr val="0F0F0F"/>
              </a:solidFill>
              <a:latin typeface="Times New Roman" panose="02020603050405020304" pitchFamily="18" charset="0"/>
              <a:cs typeface="Times New Roman" panose="02020603050405020304" pitchFamily="18" charset="0"/>
            </a:endParaRPr>
          </a:p>
          <a:p>
            <a:r>
              <a:rPr b="1" dirty="0" sz="4400" lang="en-US">
                <a:solidFill>
                  <a:srgbClr val="0F0F0F"/>
                </a:solidFill>
                <a:latin typeface="Times New Roman" panose="02020603050405020304" pitchFamily="18" charset="0"/>
                <a:cs typeface="Times New Roman" panose="02020603050405020304" pitchFamily="18" charset="0"/>
              </a:rPr>
              <a:t>SCORE BASED APPROACH</a:t>
            </a:r>
            <a:endParaRPr dirty="0" sz="2800" lang="en-IN">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29" name=""/>
        <p:cNvGrpSpPr/>
        <p:nvPr/>
      </p:nvGrpSpPr>
      <p:grpSpPr>
        <a:xfrm>
          <a:off x="0" y="0"/>
          <a:ext cx="0" cy="0"/>
          <a:chOff x="0" y="0"/>
          <a:chExt cx="0" cy="0"/>
        </a:xfrm>
      </p:grpSpPr>
      <p:sp>
        <p:nvSpPr>
          <p:cNvPr id="1048627" name="object 2"/>
          <p:cNvSpPr/>
          <p:nvPr/>
        </p:nvSpPr>
        <p:spPr>
          <a:xfrm>
            <a:off x="-76200" y="28579"/>
            <a:ext cx="12481713"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p>
        </p:txBody>
      </p:sp>
      <p:grpSp>
        <p:nvGrpSpPr>
          <p:cNvPr id="30" name="object 3"/>
          <p:cNvGrpSpPr/>
          <p:nvPr/>
        </p:nvGrpSpPr>
        <p:grpSpPr>
          <a:xfrm>
            <a:off x="7443849" y="0"/>
            <a:ext cx="4752975" cy="6863080"/>
            <a:chOff x="7443849" y="0"/>
            <a:chExt cx="4752975" cy="6863080"/>
          </a:xfrm>
        </p:grpSpPr>
        <p:sp>
          <p:nvSpPr>
            <p:cNvPr id="1048628"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29"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30"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31"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32"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33"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34"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35"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36"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37"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38" name="object 14"/>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39" name="object 15"/>
          <p:cNvSpPr/>
          <p:nvPr/>
        </p:nvSpPr>
        <p:spPr>
          <a:xfrm>
            <a:off x="7362825" y="447675"/>
            <a:ext cx="361950" cy="361950"/>
          </a:xfrm>
          <a:custGeom>
            <a:avLst/>
            <a:ah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bIns="0" lIns="0" rIns="0" rtlCol="0" tIns="0" wrap="square"/>
          <a:p/>
        </p:txBody>
      </p:sp>
      <p:sp>
        <p:nvSpPr>
          <p:cNvPr id="1048640" name="object 16"/>
          <p:cNvSpPr/>
          <p:nvPr/>
        </p:nvSpPr>
        <p:spPr>
          <a:xfrm>
            <a:off x="11010900" y="5610225"/>
            <a:ext cx="647700" cy="647700"/>
          </a:xfrm>
          <a:custGeom>
            <a:avLst/>
            <a:ah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bIns="0" lIns="0" rIns="0" rtlCol="0" tIns="0" wrap="square"/>
          <a:p/>
        </p:txBody>
      </p:sp>
      <p:pic>
        <p:nvPicPr>
          <p:cNvPr id="2097155" name="object 17"/>
          <p:cNvPicPr>
            <a:picLocks/>
          </p:cNvPicPr>
          <p:nvPr/>
        </p:nvPicPr>
        <p:blipFill>
          <a:blip xmlns:r="http://schemas.openxmlformats.org/officeDocument/2006/relationships" r:embed="rId1" cstate="print"/>
          <a:stretch>
            <a:fillRect/>
          </a:stretch>
        </p:blipFill>
        <p:spPr>
          <a:xfrm>
            <a:off x="10687050" y="6134100"/>
            <a:ext cx="247650" cy="247650"/>
          </a:xfrm>
          <a:prstGeom prst="rect"/>
        </p:spPr>
      </p:pic>
      <p:grpSp>
        <p:nvGrpSpPr>
          <p:cNvPr id="31" name="object 18"/>
          <p:cNvGrpSpPr/>
          <p:nvPr/>
        </p:nvGrpSpPr>
        <p:grpSpPr>
          <a:xfrm>
            <a:off x="47625" y="3819523"/>
            <a:ext cx="4124325" cy="3009900"/>
            <a:chOff x="47625" y="3819523"/>
            <a:chExt cx="4124325" cy="3009900"/>
          </a:xfrm>
        </p:grpSpPr>
        <p:pic>
          <p:nvPicPr>
            <p:cNvPr id="2097156" name="object 19"/>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pic>
          <p:nvPicPr>
            <p:cNvPr id="2097157" name="object 20"/>
            <p:cNvPicPr>
              <a:picLocks/>
            </p:cNvPicPr>
            <p:nvPr/>
          </p:nvPicPr>
          <p:blipFill>
            <a:blip xmlns:r="http://schemas.openxmlformats.org/officeDocument/2006/relationships" r:embed="rId3" cstate="print"/>
            <a:stretch>
              <a:fillRect/>
            </a:stretch>
          </p:blipFill>
          <p:spPr>
            <a:xfrm>
              <a:off x="47625" y="3819523"/>
              <a:ext cx="1733550" cy="3009898"/>
            </a:xfrm>
            <a:prstGeom prst="rect"/>
          </p:spPr>
        </p:pic>
      </p:grpSp>
      <p:sp>
        <p:nvSpPr>
          <p:cNvPr id="1048641" name="object 21"/>
          <p:cNvSpPr txBox="1">
            <a:spLocks noGrp="1"/>
          </p:cNvSpPr>
          <p:nvPr>
            <p:ph type="title"/>
          </p:nvPr>
        </p:nvSpPr>
        <p:spPr>
          <a:xfrm>
            <a:off x="739775" y="445388"/>
            <a:ext cx="2357120" cy="1461135"/>
          </a:xfrm>
          <a:prstGeom prst="rect"/>
        </p:spPr>
        <p:txBody>
          <a:bodyPr bIns="0" lIns="0" rIns="0" rtlCol="0" tIns="13335" vert="horz" wrap="square">
            <a:spAutoFit/>
          </a:bodyPr>
          <a:p>
            <a:pPr marL="12700">
              <a:lnSpc>
                <a:spcPct val="100000"/>
              </a:lnSpc>
              <a:spcBef>
                <a:spcPts val="105"/>
              </a:spcBef>
            </a:pPr>
            <a:r>
              <a:rPr dirty="0" spc="25"/>
              <a:t>A</a:t>
            </a:r>
            <a:r>
              <a:rPr dirty="0" spc="-5"/>
              <a:t>G</a:t>
            </a:r>
            <a:r>
              <a:rPr dirty="0" spc="-35"/>
              <a:t>E</a:t>
            </a:r>
            <a:r>
              <a:rPr dirty="0" spc="15"/>
              <a:t>N</a:t>
            </a:r>
            <a:r>
              <a:rPr dirty="0"/>
              <a:t>DA</a:t>
            </a:r>
            <a:endParaRPr dirty="0"/>
          </a:p>
        </p:txBody>
      </p:sp>
      <p:sp>
        <p:nvSpPr>
          <p:cNvPr id="1048642"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3</a:t>
            </a:fld>
            <a:endParaRPr dirty="0" spc="10"/>
          </a:p>
        </p:txBody>
      </p:sp>
      <p:sp>
        <p:nvSpPr>
          <p:cNvPr id="1048643" name="TextBox 22"/>
          <p:cNvSpPr txBox="1"/>
          <p:nvPr/>
        </p:nvSpPr>
        <p:spPr>
          <a:xfrm>
            <a:off x="2509807" y="1041533"/>
            <a:ext cx="5029200" cy="4282440"/>
          </a:xfrm>
          <a:prstGeom prst="rect"/>
          <a:noFill/>
        </p:spPr>
        <p:txBody>
          <a:bodyPr rtlCol="0" wrap="square">
            <a:spAutoFit/>
          </a:bodyPr>
          <a:p>
            <a:pPr algn="l"/>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Problem Statement</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Project Overview</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End Users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Our Solution and Proposition</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Dataset Description</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Modelling Approach</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Results and </a:t>
            </a:r>
            <a:r>
              <a:rPr dirty="0" sz="2800" lang="en-US">
                <a:solidFill>
                  <a:srgbClr val="0D0D0D"/>
                </a:solidFill>
                <a:latin typeface="Times New Roman" panose="02020603050405020304" pitchFamily="18" charset="0"/>
                <a:cs typeface="Times New Roman" panose="02020603050405020304" pitchFamily="18" charset="0"/>
              </a:rPr>
              <a:t>Discussion</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Conclusion</a:t>
            </a: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grpSp>
        <p:nvGrpSpPr>
          <p:cNvPr id="33" name="object 2"/>
          <p:cNvGrpSpPr/>
          <p:nvPr/>
        </p:nvGrpSpPr>
        <p:grpSpPr>
          <a:xfrm>
            <a:off x="7991475" y="2933700"/>
            <a:ext cx="2762250" cy="3257550"/>
            <a:chOff x="7991475" y="2933700"/>
            <a:chExt cx="2762250" cy="3257550"/>
          </a:xfrm>
        </p:grpSpPr>
        <p:sp>
          <p:nvSpPr>
            <p:cNvPr id="1048644"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5"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8" name="object 5"/>
            <p:cNvPicPr>
              <a:picLocks/>
            </p:cNvPicPr>
            <p:nvPr/>
          </p:nvPicPr>
          <p:blipFill>
            <a:blip xmlns:r="http://schemas.openxmlformats.org/officeDocument/2006/relationships" r:embed="rId1" cstate="print"/>
            <a:stretch>
              <a:fillRect/>
            </a:stretch>
          </p:blipFill>
          <p:spPr>
            <a:xfrm>
              <a:off x="7991475" y="2933700"/>
              <a:ext cx="2762250" cy="3257550"/>
            </a:xfrm>
            <a:prstGeom prst="rect"/>
          </p:spPr>
        </p:pic>
      </p:grpSp>
      <p:sp>
        <p:nvSpPr>
          <p:cNvPr id="1048646" name="object 7"/>
          <p:cNvSpPr txBox="1">
            <a:spLocks noGrp="1"/>
          </p:cNvSpPr>
          <p:nvPr>
            <p:ph type="title"/>
          </p:nvPr>
        </p:nvSpPr>
        <p:spPr>
          <a:xfrm>
            <a:off x="834072" y="575055"/>
            <a:ext cx="5636895" cy="1261110"/>
          </a:xfrm>
          <a:prstGeom prst="rect"/>
        </p:spPr>
        <p:txBody>
          <a:bodyPr bIns="0" lIns="0" rIns="0" rtlCol="0" tIns="16510" vert="horz" wrap="square">
            <a:spAutoFit/>
          </a:bodyPr>
          <a:p>
            <a:pPr marL="12700">
              <a:lnSpc>
                <a:spcPct val="100000"/>
              </a:lnSpc>
              <a:spcBef>
                <a:spcPts val="130"/>
              </a:spcBef>
              <a:tabLst>
                <a:tab algn="l" pos="2727960"/>
              </a:tabLst>
            </a:pPr>
            <a:r>
              <a:rPr dirty="0" sz="4250" spc="-20"/>
              <a:t>P</a:t>
            </a:r>
            <a:r>
              <a:rPr dirty="0" sz="4250" spc="15"/>
              <a:t>ROB</a:t>
            </a:r>
            <a:r>
              <a:rPr dirty="0" sz="4250" spc="55"/>
              <a:t>L</a:t>
            </a:r>
            <a:r>
              <a:rPr dirty="0" sz="4250" spc="-20"/>
              <a:t>E</a:t>
            </a:r>
            <a:r>
              <a:rPr dirty="0" sz="4250" spc="20"/>
              <a:t>M</a:t>
            </a:r>
            <a:r>
              <a:rPr dirty="0" sz="4250"/>
              <a:t>	</a:t>
            </a:r>
            <a:r>
              <a:rPr dirty="0" sz="4250" spc="10"/>
              <a:t>S</a:t>
            </a:r>
            <a:r>
              <a:rPr dirty="0" sz="4250" spc="-370"/>
              <a:t>T</a:t>
            </a:r>
            <a:r>
              <a:rPr dirty="0" sz="4250" spc="-375"/>
              <a:t>A</a:t>
            </a:r>
            <a:r>
              <a:rPr dirty="0" sz="4250" spc="15"/>
              <a:t>T</a:t>
            </a:r>
            <a:r>
              <a:rPr dirty="0" sz="4250" spc="-10"/>
              <a:t>E</a:t>
            </a:r>
            <a:r>
              <a:rPr dirty="0" sz="4250" spc="-20"/>
              <a:t>ME</a:t>
            </a:r>
            <a:r>
              <a:rPr dirty="0" sz="4250" spc="10"/>
              <a:t>NT</a:t>
            </a:r>
            <a:endParaRPr sz="4250"/>
          </a:p>
        </p:txBody>
      </p:sp>
      <p:pic>
        <p:nvPicPr>
          <p:cNvPr id="2097159"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47"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4</a:t>
            </a:fld>
            <a:endParaRPr dirty="0" spc="10"/>
          </a:p>
        </p:txBody>
      </p:sp>
      <p:sp>
        <p:nvSpPr>
          <p:cNvPr id="1048648" name="TextBox 10"/>
          <p:cNvSpPr txBox="1"/>
          <p:nvPr/>
        </p:nvSpPr>
        <p:spPr>
          <a:xfrm rot="10800000" flipV="1">
            <a:off x="762000" y="2200037"/>
            <a:ext cx="6934200" cy="1958340"/>
          </a:xfrm>
          <a:prstGeom prst="rect"/>
          <a:noFill/>
        </p:spPr>
        <p:txBody>
          <a:bodyPr wrap="square">
            <a:spAutoFit/>
          </a:bodyPr>
          <a:p>
            <a:endParaRPr dirty="0" lang="en-IN"/>
          </a:p>
          <a:p>
            <a:r>
              <a:rPr dirty="0" lang="en-IN"/>
              <a:t>Our organization lacks a clear, data-driven understanding of employee performance, making it challenging to identify top performers, address areas needing improvement, and align individual efforts with company goals. This results in missed opportunities for enhancing productivity and fostering employee growth.</a:t>
            </a:r>
            <a:endParaRPr dirty="0"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grpSp>
        <p:nvGrpSpPr>
          <p:cNvPr id="35" name="object 2"/>
          <p:cNvGrpSpPr/>
          <p:nvPr/>
        </p:nvGrpSpPr>
        <p:grpSpPr>
          <a:xfrm>
            <a:off x="8658225" y="2647950"/>
            <a:ext cx="3533775" cy="3810000"/>
            <a:chOff x="8658225" y="2647950"/>
            <a:chExt cx="3533775" cy="3810000"/>
          </a:xfrm>
        </p:grpSpPr>
        <p:sp>
          <p:nvSpPr>
            <p:cNvPr id="1048649"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0"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0" name="object 5"/>
            <p:cNvPicPr>
              <a:picLocks/>
            </p:cNvPicPr>
            <p:nvPr/>
          </p:nvPicPr>
          <p:blipFill>
            <a:blip xmlns:r="http://schemas.openxmlformats.org/officeDocument/2006/relationships" r:embed="rId1" cstate="print"/>
            <a:stretch>
              <a:fillRect/>
            </a:stretch>
          </p:blipFill>
          <p:spPr>
            <a:xfrm>
              <a:off x="8658225" y="2647950"/>
              <a:ext cx="3533775" cy="3810000"/>
            </a:xfrm>
            <a:prstGeom prst="rect"/>
          </p:spPr>
        </p:pic>
      </p:grpSp>
      <p:sp>
        <p:nvSpPr>
          <p:cNvPr id="1048651" name="object 7"/>
          <p:cNvSpPr txBox="1">
            <a:spLocks noGrp="1"/>
          </p:cNvSpPr>
          <p:nvPr>
            <p:ph type="title"/>
          </p:nvPr>
        </p:nvSpPr>
        <p:spPr>
          <a:xfrm>
            <a:off x="739775" y="829627"/>
            <a:ext cx="5263515" cy="638810"/>
          </a:xfrm>
          <a:prstGeom prst="rect"/>
        </p:spPr>
        <p:txBody>
          <a:bodyPr bIns="0" lIns="0" rIns="0" rtlCol="0" tIns="16510" vert="horz" wrap="square">
            <a:spAutoFit/>
          </a:bodyPr>
          <a:p>
            <a:pPr marL="12700">
              <a:lnSpc>
                <a:spcPct val="100000"/>
              </a:lnSpc>
              <a:spcBef>
                <a:spcPts val="130"/>
              </a:spcBef>
              <a:tabLst>
                <a:tab algn="l" pos="2642870"/>
              </a:tabLst>
            </a:pPr>
            <a:r>
              <a:rPr dirty="0" sz="4250" spc="5"/>
              <a:t>PROJECT	</a:t>
            </a:r>
            <a:r>
              <a:rPr dirty="0" sz="4250" spc="-20"/>
              <a:t>OVERVIEW</a:t>
            </a:r>
            <a:endParaRPr sz="4250"/>
          </a:p>
        </p:txBody>
      </p:sp>
      <p:pic>
        <p:nvPicPr>
          <p:cNvPr id="2097161"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52"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5</a:t>
            </a:fld>
            <a:endParaRPr dirty="0" spc="10"/>
          </a:p>
        </p:txBody>
      </p:sp>
      <p:sp>
        <p:nvSpPr>
          <p:cNvPr id="1048653" name="TextBox 13"/>
          <p:cNvSpPr txBox="1"/>
          <p:nvPr/>
        </p:nvSpPr>
        <p:spPr>
          <a:xfrm>
            <a:off x="739775" y="1676400"/>
            <a:ext cx="8023225" cy="3291841"/>
          </a:xfrm>
          <a:prstGeom prst="rect"/>
          <a:noFill/>
        </p:spPr>
        <p:txBody>
          <a:bodyPr wrap="square">
            <a:spAutoFit/>
          </a:bodyPr>
          <a:p>
            <a:r>
              <a:rPr dirty="0" lang="en-IN"/>
              <a:t>:</a:t>
            </a:r>
            <a:endParaRPr dirty="0" lang="en-IN"/>
          </a:p>
          <a:p>
            <a:endParaRPr dirty="0" lang="en-IN"/>
          </a:p>
          <a:p>
            <a:r>
              <a:rPr dirty="0" lang="en-IN"/>
              <a:t>This project focuses on developing a comprehensive tool to </a:t>
            </a:r>
            <a:r>
              <a:rPr dirty="0" lang="en-IN" err="1"/>
              <a:t>analyze</a:t>
            </a:r>
            <a:r>
              <a:rPr dirty="0" lang="en-IN"/>
              <a:t> performance. We will gather and evaluate detailed performance data, using advanced data visualization techniques to create clear and interactive charts and dashboards. The tool will help identify top performers, highlight areas needing improvement, and provide insights to align individual and team efforts with organizational </a:t>
            </a:r>
            <a:r>
              <a:rPr dirty="0" lang="en-IN">
                <a:latin typeface="Times New Roman" panose="02020603050405020304" pitchFamily="18" charset="0"/>
                <a:cs typeface="Times New Roman" panose="02020603050405020304" pitchFamily="18" charset="0"/>
              </a:rPr>
              <a:t>goals</a:t>
            </a:r>
            <a:r>
              <a:rPr dirty="0" lang="en-IN"/>
              <a:t>. By integrating automated analytics and visual summaries, the solution aims to enhance productivity, support targeted development initiatives, and foster a more effective and motivated workforce. Ultimately, this tool will enable data-driven decision-making, driving better overall performance and contributing to the company’s long-term success.</a:t>
            </a:r>
            <a:endParaRPr dirty="0"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54" name="object 2"/>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5"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56" name="object 5"/>
          <p:cNvSpPr txBox="1">
            <a:spLocks noGrp="1"/>
          </p:cNvSpPr>
          <p:nvPr>
            <p:ph type="title"/>
          </p:nvPr>
        </p:nvSpPr>
        <p:spPr>
          <a:xfrm>
            <a:off x="699452" y="891793"/>
            <a:ext cx="5014595" cy="518159"/>
          </a:xfrm>
          <a:prstGeom prst="rect"/>
        </p:spPr>
        <p:txBody>
          <a:bodyPr bIns="0" lIns="0" rIns="0" rtlCol="0" tIns="16510" vert="horz" wrap="square">
            <a:spAutoFit/>
          </a:bodyPr>
          <a:p>
            <a:pPr marL="12700">
              <a:lnSpc>
                <a:spcPct val="100000"/>
              </a:lnSpc>
              <a:spcBef>
                <a:spcPts val="130"/>
              </a:spcBef>
            </a:pPr>
            <a:r>
              <a:rPr dirty="0" sz="3200" spc="25"/>
              <a:t>W</a:t>
            </a:r>
            <a:r>
              <a:rPr dirty="0" sz="3200" spc="-20"/>
              <a:t>H</a:t>
            </a:r>
            <a:r>
              <a:rPr dirty="0" sz="3200" spc="20"/>
              <a:t>O</a:t>
            </a:r>
            <a:r>
              <a:rPr dirty="0" sz="3200" spc="-235"/>
              <a:t> </a:t>
            </a:r>
            <a:r>
              <a:rPr dirty="0" sz="3200" spc="-10"/>
              <a:t>AR</a:t>
            </a:r>
            <a:r>
              <a:rPr dirty="0" sz="3200" spc="15"/>
              <a:t>E</a:t>
            </a:r>
            <a:r>
              <a:rPr dirty="0" sz="3200" spc="-35"/>
              <a:t> </a:t>
            </a:r>
            <a:r>
              <a:rPr dirty="0" sz="3200" spc="-10"/>
              <a:t>T</a:t>
            </a:r>
            <a:r>
              <a:rPr dirty="0" sz="3200" spc="-15"/>
              <a:t>H</a:t>
            </a:r>
            <a:r>
              <a:rPr dirty="0" sz="3200" spc="15"/>
              <a:t>E</a:t>
            </a:r>
            <a:r>
              <a:rPr dirty="0" sz="3200" spc="-35"/>
              <a:t> </a:t>
            </a:r>
            <a:r>
              <a:rPr dirty="0" sz="3200" spc="-20"/>
              <a:t>E</a:t>
            </a:r>
            <a:r>
              <a:rPr dirty="0" sz="3200" spc="30"/>
              <a:t>N</a:t>
            </a:r>
            <a:r>
              <a:rPr dirty="0" sz="3200" spc="15"/>
              <a:t>D</a:t>
            </a:r>
            <a:r>
              <a:rPr dirty="0" sz="3200" spc="-45"/>
              <a:t> </a:t>
            </a:r>
            <a:r>
              <a:rPr dirty="0" sz="3200"/>
              <a:t>U</a:t>
            </a:r>
            <a:r>
              <a:rPr dirty="0" sz="3200" spc="10"/>
              <a:t>S</a:t>
            </a:r>
            <a:r>
              <a:rPr dirty="0" sz="3200" spc="-25"/>
              <a:t>E</a:t>
            </a:r>
            <a:r>
              <a:rPr dirty="0" sz="3200" spc="-10"/>
              <a:t>R</a:t>
            </a:r>
            <a:r>
              <a:rPr dirty="0" sz="3200" spc="5"/>
              <a:t>S?</a:t>
            </a:r>
            <a:endParaRPr sz="3200"/>
          </a:p>
        </p:txBody>
      </p:sp>
      <p:pic>
        <p:nvPicPr>
          <p:cNvPr id="2097162" name="object 6"/>
          <p:cNvPicPr>
            <a:picLocks/>
          </p:cNvPicPr>
          <p:nvPr/>
        </p:nvPicPr>
        <p:blipFill>
          <a:blip xmlns:r="http://schemas.openxmlformats.org/officeDocument/2006/relationships" r:embed="rId1" cstate="print"/>
          <a:stretch>
            <a:fillRect/>
          </a:stretch>
        </p:blipFill>
        <p:spPr>
          <a:xfrm>
            <a:off x="723900" y="6172200"/>
            <a:ext cx="2181225" cy="485775"/>
          </a:xfrm>
          <a:prstGeom prst="rect"/>
        </p:spPr>
      </p:pic>
      <p:sp>
        <p:nvSpPr>
          <p:cNvPr id="1048657" name="object 8"/>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6</a:t>
            </a:fld>
            <a:endParaRPr dirty="0" spc="10"/>
          </a:p>
        </p:txBody>
      </p:sp>
      <p:sp>
        <p:nvSpPr>
          <p:cNvPr id="1048658" name="TextBox 8"/>
          <p:cNvSpPr txBox="1"/>
          <p:nvPr/>
        </p:nvSpPr>
        <p:spPr>
          <a:xfrm>
            <a:off x="699452" y="1676400"/>
            <a:ext cx="8278496" cy="1691641"/>
          </a:xfrm>
          <a:prstGeom prst="rect"/>
          <a:noFill/>
        </p:spPr>
        <p:txBody>
          <a:bodyPr wrap="square">
            <a:spAutoFit/>
          </a:bodyPr>
          <a:p>
            <a:pPr indent="-285750" marL="285750">
              <a:buFont typeface="Wingdings" panose="05000000000000000000" pitchFamily="2" charset="2"/>
              <a:buChar char="Ø"/>
            </a:pPr>
            <a:endParaRPr dirty="0" lang="en-US"/>
          </a:p>
          <a:p>
            <a:pPr indent="-285750" marL="285750">
              <a:buFont typeface="Wingdings" panose="05000000000000000000" pitchFamily="2" charset="2"/>
              <a:buChar char="Ø"/>
            </a:pPr>
            <a:endParaRPr dirty="0" lang="en-US"/>
          </a:p>
          <a:p>
            <a:pPr indent="-285750" marL="285750">
              <a:buFont typeface="Wingdings" panose="05000000000000000000" pitchFamily="2" charset="2"/>
              <a:buChar char="Ø"/>
            </a:pPr>
            <a:r>
              <a:rPr dirty="0" lang="en-US"/>
              <a:t>Managers and Team Leaders</a:t>
            </a:r>
            <a:endParaRPr dirty="0" lang="en-US"/>
          </a:p>
          <a:p>
            <a:pPr indent="-285750" marL="285750">
              <a:buFont typeface="Wingdings" panose="05000000000000000000" pitchFamily="2" charset="2"/>
              <a:buChar char="Ø"/>
            </a:pPr>
            <a:r>
              <a:rPr dirty="0" lang="en-US"/>
              <a:t> HR Professionals</a:t>
            </a:r>
            <a:endParaRPr dirty="0" lang="en-US"/>
          </a:p>
          <a:p>
            <a:pPr indent="-285750" marL="285750">
              <a:buFont typeface="Wingdings" panose="05000000000000000000" pitchFamily="2" charset="2"/>
              <a:buChar char="Ø"/>
            </a:pPr>
            <a:r>
              <a:rPr dirty="0" lang="en-US"/>
              <a:t> Executives</a:t>
            </a:r>
            <a:endParaRPr dirty="0" lang="en-US"/>
          </a:p>
          <a:p>
            <a:pPr indent="-285750" marL="285750">
              <a:buFont typeface="Wingdings" panose="05000000000000000000" pitchFamily="2" charset="2"/>
              <a:buChar char="Ø"/>
            </a:pPr>
            <a:r>
              <a:rPr dirty="0" lang="en-US"/>
              <a:t> Employees</a:t>
            </a:r>
            <a:endParaRPr dirty="0"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pic>
        <p:nvPicPr>
          <p:cNvPr id="2097163" name="object 2"/>
          <p:cNvPicPr>
            <a:picLocks/>
          </p:cNvPicPr>
          <p:nvPr/>
        </p:nvPicPr>
        <p:blipFill>
          <a:blip xmlns:r="http://schemas.openxmlformats.org/officeDocument/2006/relationships" r:embed="rId1" cstate="print"/>
          <a:stretch>
            <a:fillRect/>
          </a:stretch>
        </p:blipFill>
        <p:spPr>
          <a:xfrm>
            <a:off x="0" y="1476375"/>
            <a:ext cx="2695574" cy="3248025"/>
          </a:xfrm>
          <a:prstGeom prst="rect"/>
        </p:spPr>
      </p:pic>
      <p:sp>
        <p:nvSpPr>
          <p:cNvPr id="1048659" name="object 6"/>
          <p:cNvSpPr txBox="1">
            <a:spLocks noGrp="1"/>
          </p:cNvSpPr>
          <p:nvPr>
            <p:ph type="title"/>
          </p:nvPr>
        </p:nvSpPr>
        <p:spPr>
          <a:xfrm>
            <a:off x="533400" y="901065"/>
            <a:ext cx="9763125" cy="546735"/>
          </a:xfrm>
          <a:prstGeom prst="rect"/>
        </p:spPr>
        <p:txBody>
          <a:bodyPr bIns="0" lIns="0" rIns="0" rtlCol="0" tIns="13335" vert="horz" wrap="square">
            <a:spAutoFit/>
          </a:bodyPr>
          <a:p>
            <a:pPr marL="12700">
              <a:lnSpc>
                <a:spcPct val="100000"/>
              </a:lnSpc>
              <a:spcBef>
                <a:spcPts val="105"/>
              </a:spcBef>
            </a:pPr>
            <a:r>
              <a:rPr dirty="0" sz="3600" spc="10"/>
              <a:t>O</a:t>
            </a:r>
            <a:r>
              <a:rPr dirty="0" sz="3600" spc="25"/>
              <a:t>U</a:t>
            </a:r>
            <a:r>
              <a:rPr dirty="0" sz="3600"/>
              <a:t>R</a:t>
            </a:r>
            <a:r>
              <a:rPr dirty="0" sz="3600" spc="5"/>
              <a:t> </a:t>
            </a:r>
            <a:r>
              <a:rPr dirty="0" sz="3600" spc="25"/>
              <a:t>S</a:t>
            </a:r>
            <a:r>
              <a:rPr dirty="0" sz="3600" spc="10"/>
              <a:t>O</a:t>
            </a:r>
            <a:r>
              <a:rPr dirty="0" sz="3600" spc="25"/>
              <a:t>LU</a:t>
            </a:r>
            <a:r>
              <a:rPr dirty="0" sz="3600" spc="-35"/>
              <a:t>T</a:t>
            </a:r>
            <a:r>
              <a:rPr dirty="0" sz="3600" spc="-30"/>
              <a:t>I</a:t>
            </a:r>
            <a:r>
              <a:rPr dirty="0" sz="3600" spc="10"/>
              <a:t>O</a:t>
            </a:r>
            <a:r>
              <a:rPr dirty="0" sz="3600"/>
              <a:t>N</a:t>
            </a:r>
            <a:r>
              <a:rPr dirty="0" sz="3600" spc="-345"/>
              <a:t> </a:t>
            </a:r>
            <a:r>
              <a:rPr dirty="0" sz="3600" spc="-35"/>
              <a:t>A</a:t>
            </a:r>
            <a:r>
              <a:rPr dirty="0" sz="3600" spc="-5"/>
              <a:t>N</a:t>
            </a:r>
            <a:r>
              <a:rPr dirty="0" sz="3600"/>
              <a:t>D</a:t>
            </a:r>
            <a:r>
              <a:rPr dirty="0" sz="3600" spc="35"/>
              <a:t> </a:t>
            </a:r>
            <a:r>
              <a:rPr dirty="0" sz="3600" spc="-30"/>
              <a:t>I</a:t>
            </a:r>
            <a:r>
              <a:rPr dirty="0" sz="3600" spc="-35"/>
              <a:t>T</a:t>
            </a:r>
            <a:r>
              <a:rPr dirty="0" sz="3600"/>
              <a:t>S</a:t>
            </a:r>
            <a:r>
              <a:rPr dirty="0" sz="3600" spc="60"/>
              <a:t> </a:t>
            </a:r>
            <a:r>
              <a:rPr dirty="0" sz="3600" spc="-295"/>
              <a:t>V</a:t>
            </a:r>
            <a:r>
              <a:rPr dirty="0" sz="3600" spc="-35"/>
              <a:t>A</a:t>
            </a:r>
            <a:r>
              <a:rPr dirty="0" sz="3600" spc="25"/>
              <a:t>LU</a:t>
            </a:r>
            <a:r>
              <a:rPr dirty="0" sz="3600"/>
              <a:t>E</a:t>
            </a:r>
            <a:r>
              <a:rPr dirty="0" sz="3600" spc="-65"/>
              <a:t> </a:t>
            </a:r>
            <a:r>
              <a:rPr dirty="0" sz="3600" spc="-15"/>
              <a:t>P</a:t>
            </a:r>
            <a:r>
              <a:rPr dirty="0" sz="3600" spc="-30"/>
              <a:t>R</a:t>
            </a:r>
            <a:r>
              <a:rPr dirty="0" sz="3600" spc="10"/>
              <a:t>O</a:t>
            </a:r>
            <a:r>
              <a:rPr dirty="0" sz="3600" spc="-15"/>
              <a:t>P</a:t>
            </a:r>
            <a:r>
              <a:rPr dirty="0" sz="3600" spc="10"/>
              <a:t>O</a:t>
            </a:r>
            <a:r>
              <a:rPr dirty="0" sz="3600" spc="25"/>
              <a:t>S</a:t>
            </a:r>
            <a:r>
              <a:rPr dirty="0" sz="3600" spc="-30"/>
              <a:t>I</a:t>
            </a:r>
            <a:r>
              <a:rPr dirty="0" sz="3600" spc="-35"/>
              <a:t>T</a:t>
            </a:r>
            <a:r>
              <a:rPr dirty="0" sz="3600" spc="-30"/>
              <a:t>I</a:t>
            </a:r>
            <a:r>
              <a:rPr dirty="0" sz="3600" spc="10"/>
              <a:t>O</a:t>
            </a:r>
            <a:r>
              <a:rPr dirty="0" sz="3600"/>
              <a:t>N</a:t>
            </a:r>
            <a:endParaRPr dirty="0" sz="3600"/>
          </a:p>
        </p:txBody>
      </p:sp>
      <p:pic>
        <p:nvPicPr>
          <p:cNvPr id="2097164" name="object 7"/>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60" name="object 9"/>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7</a:t>
            </a:fld>
            <a:endParaRPr dirty="0" spc="10"/>
          </a:p>
        </p:txBody>
      </p:sp>
      <p:sp>
        <p:nvSpPr>
          <p:cNvPr id="1048661" name="TextBox 9"/>
          <p:cNvSpPr txBox="1"/>
          <p:nvPr/>
        </p:nvSpPr>
        <p:spPr>
          <a:xfrm>
            <a:off x="3124200" y="1600200"/>
            <a:ext cx="6934199" cy="2225041"/>
          </a:xfrm>
          <a:prstGeom prst="rect"/>
          <a:noFill/>
        </p:spPr>
        <p:txBody>
          <a:bodyPr wrap="square">
            <a:spAutoFit/>
          </a:bodyPr>
          <a:p>
            <a:endParaRPr dirty="0" lang="en-IN"/>
          </a:p>
          <a:p>
            <a:endParaRPr dirty="0" lang="en-IN"/>
          </a:p>
          <a:p>
            <a:r>
              <a:rPr dirty="0" lang="en-IN"/>
              <a:t>Our solution provides a comprehensive analysis of employee performance through advanced data visualization and automated insights. This approach boosts productivity, identifies top performers, and targets areas for improvement, ensuring alignment with company goals. The result is a more motivated and effective workforce, driving overall organizational success.</a:t>
            </a:r>
            <a:endParaRPr dirty="0"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62" name="Title 1"/>
          <p:cNvSpPr>
            <a:spLocks noGrp="1"/>
          </p:cNvSpPr>
          <p:nvPr>
            <p:ph type="title"/>
          </p:nvPr>
        </p:nvSpPr>
        <p:spPr>
          <a:xfrm>
            <a:off x="755332" y="385444"/>
            <a:ext cx="10681335" cy="2971800"/>
          </a:xfrm>
        </p:spPr>
        <p:txBody>
          <a:bodyPr/>
          <a:p>
            <a:r>
              <a:rPr dirty="0" lang="en-IN"/>
              <a:t>Dataset Description</a:t>
            </a:r>
            <a:br>
              <a:rPr dirty="0" lang="en-IN"/>
            </a:br>
            <a:br>
              <a:rPr dirty="0" lang="en-IN"/>
            </a:br>
            <a:r>
              <a:rPr dirty="0" sz="2000" lang="en-IN"/>
              <a:t>EMPLOYEE DATASET: KAGGLE</a:t>
            </a:r>
            <a:br>
              <a:rPr dirty="0" sz="2000" lang="en-IN"/>
            </a:br>
            <a:r>
              <a:rPr dirty="0" sz="2000" lang="en-IN"/>
              <a:t>FEATURES: 26</a:t>
            </a:r>
            <a:br>
              <a:rPr dirty="0" sz="2000" lang="en-IN"/>
            </a:br>
            <a:r>
              <a:rPr dirty="0" sz="2000" lang="en-IN"/>
              <a:t>FEATURES TAKEN: 8</a:t>
            </a:r>
            <a:br>
              <a:rPr dirty="0" sz="2000" lang="en-IN"/>
            </a:br>
            <a:r>
              <a:rPr dirty="0" sz="2000" lang="en-IN"/>
              <a:t>FIELD NAMES: BUSINESS UNIT, FIRST NAME, GENDER CODE AND PERFORMANCE SCORE</a:t>
            </a:r>
            <a:br>
              <a:rPr b="0" dirty="0" sz="2000" lang="en-IN"/>
            </a:br>
            <a:endParaRPr dirty="0"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63" name="object 2"/>
          <p:cNvSpPr txBox="1"/>
          <p:nvPr/>
        </p:nvSpPr>
        <p:spPr>
          <a:xfrm>
            <a:off x="752475" y="6486037"/>
            <a:ext cx="1773555" cy="166370"/>
          </a:xfrm>
          <a:prstGeom prst="rect"/>
        </p:spPr>
        <p:txBody>
          <a:bodyPr bIns="0" lIns="0" rIns="0" rtlCol="0" tIns="0" vert="horz" wrap="square">
            <a:spAutoFit/>
          </a:bodyPr>
          <a:p>
            <a:pPr>
              <a:lnSpc>
                <a:spcPts val="1275"/>
              </a:lnSpc>
            </a:pPr>
            <a:r>
              <a:rPr dirty="0" sz="1100" spc="20">
                <a:solidFill>
                  <a:srgbClr val="2D83C3"/>
                </a:solidFill>
                <a:latin typeface="Trebuchet MS" panose="020B0603020202020204"/>
                <a:cs typeface="Trebuchet MS" panose="020B0603020202020204"/>
              </a:rPr>
              <a:t>3/21/202</a:t>
            </a:r>
            <a:r>
              <a:rPr dirty="0" sz="1100" spc="10">
                <a:solidFill>
                  <a:srgbClr val="2D83C3"/>
                </a:solidFill>
                <a:latin typeface="Trebuchet MS" panose="020B0603020202020204"/>
                <a:cs typeface="Trebuchet MS" panose="020B0603020202020204"/>
              </a:rPr>
              <a:t>4</a:t>
            </a:r>
            <a:r>
              <a:rPr dirty="0" sz="1100">
                <a:solidFill>
                  <a:srgbClr val="2D83C3"/>
                </a:solidFill>
                <a:latin typeface="Trebuchet MS" panose="020B0603020202020204"/>
                <a:cs typeface="Trebuchet MS" panose="020B0603020202020204"/>
              </a:rPr>
              <a:t> </a:t>
            </a:r>
            <a:r>
              <a:rPr dirty="0" sz="1100" spc="130">
                <a:solidFill>
                  <a:srgbClr val="2D83C3"/>
                </a:solidFill>
                <a:latin typeface="Trebuchet MS" panose="020B0603020202020204"/>
                <a:cs typeface="Trebuchet MS" panose="020B0603020202020204"/>
              </a:rPr>
              <a:t> </a:t>
            </a:r>
            <a:r>
              <a:rPr b="1" dirty="0" sz="1100" spc="50">
                <a:solidFill>
                  <a:srgbClr val="2D83C3"/>
                </a:solidFill>
                <a:latin typeface="Trebuchet MS" panose="020B0603020202020204"/>
                <a:cs typeface="Trebuchet MS" panose="020B0603020202020204"/>
              </a:rPr>
              <a:t>A</a:t>
            </a:r>
            <a:r>
              <a:rPr b="1" dirty="0" sz="1100" spc="15">
                <a:solidFill>
                  <a:srgbClr val="2D83C3"/>
                </a:solidFill>
                <a:latin typeface="Trebuchet MS" panose="020B0603020202020204"/>
                <a:cs typeface="Trebuchet MS" panose="020B0603020202020204"/>
              </a:rPr>
              <a:t>nnu</a:t>
            </a:r>
            <a:r>
              <a:rPr b="1" dirty="0" sz="1100" spc="10">
                <a:solidFill>
                  <a:srgbClr val="2D83C3"/>
                </a:solidFill>
                <a:latin typeface="Trebuchet MS" panose="020B0603020202020204"/>
                <a:cs typeface="Trebuchet MS" panose="020B0603020202020204"/>
              </a:rPr>
              <a:t>al</a:t>
            </a:r>
            <a:r>
              <a:rPr b="1" dirty="0" sz="1100" spc="-140">
                <a:solidFill>
                  <a:srgbClr val="2D83C3"/>
                </a:solidFill>
                <a:latin typeface="Trebuchet MS" panose="020B0603020202020204"/>
                <a:cs typeface="Trebuchet MS" panose="020B0603020202020204"/>
              </a:rPr>
              <a:t> </a:t>
            </a:r>
            <a:r>
              <a:rPr b="1" dirty="0" sz="1100">
                <a:solidFill>
                  <a:srgbClr val="2D83C3"/>
                </a:solidFill>
                <a:latin typeface="Trebuchet MS" panose="020B0603020202020204"/>
                <a:cs typeface="Trebuchet MS" panose="020B0603020202020204"/>
              </a:rPr>
              <a:t>R</a:t>
            </a:r>
            <a:r>
              <a:rPr b="1" dirty="0" sz="1100" spc="35">
                <a:solidFill>
                  <a:srgbClr val="2D83C3"/>
                </a:solidFill>
                <a:latin typeface="Trebuchet MS" panose="020B0603020202020204"/>
                <a:cs typeface="Trebuchet MS" panose="020B0603020202020204"/>
              </a:rPr>
              <a:t>e</a:t>
            </a:r>
            <a:r>
              <a:rPr b="1" dirty="0" sz="1100" spc="90">
                <a:solidFill>
                  <a:srgbClr val="2D83C3"/>
                </a:solidFill>
                <a:latin typeface="Trebuchet MS" panose="020B0603020202020204"/>
                <a:cs typeface="Trebuchet MS" panose="020B0603020202020204"/>
              </a:rPr>
              <a:t>v</a:t>
            </a:r>
            <a:r>
              <a:rPr b="1" dirty="0" sz="1100" spc="-35">
                <a:solidFill>
                  <a:srgbClr val="2D83C3"/>
                </a:solidFill>
                <a:latin typeface="Trebuchet MS" panose="020B0603020202020204"/>
                <a:cs typeface="Trebuchet MS" panose="020B0603020202020204"/>
              </a:rPr>
              <a:t>i</a:t>
            </a:r>
            <a:r>
              <a:rPr b="1" dirty="0" sz="1100" spc="35">
                <a:solidFill>
                  <a:srgbClr val="2D83C3"/>
                </a:solidFill>
                <a:latin typeface="Trebuchet MS" panose="020B0603020202020204"/>
                <a:cs typeface="Trebuchet MS" panose="020B0603020202020204"/>
              </a:rPr>
              <a:t>e</a:t>
            </a:r>
            <a:r>
              <a:rPr b="1" dirty="0" sz="1100" spc="15">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48664" name="object 5"/>
          <p:cNvSpPr/>
          <p:nvPr/>
        </p:nvSpPr>
        <p:spPr>
          <a:xfrm flipH="1">
            <a:off x="2533650" y="1891261"/>
            <a:ext cx="7162800" cy="3833814"/>
          </a:xfrm>
          <a:custGeom>
            <a:avLst/>
            <a:ahLst/>
            <a:rect l="l" t="t" r="r" b="b"/>
            <a:pathLst>
              <a:path w="180975" h="180975">
                <a:moveTo>
                  <a:pt x="180975" y="0"/>
                </a:moveTo>
                <a:lnTo>
                  <a:pt x="0" y="0"/>
                </a:lnTo>
                <a:lnTo>
                  <a:pt x="0" y="180975"/>
                </a:lnTo>
                <a:lnTo>
                  <a:pt x="180975" y="180975"/>
                </a:lnTo>
                <a:lnTo>
                  <a:pt x="180975" y="0"/>
                </a:lnTo>
                <a:close/>
              </a:path>
            </a:pathLst>
          </a:custGeom>
          <a:solidFill>
            <a:schemeClr val="bg1"/>
          </a:solidFill>
        </p:spPr>
        <p:txBody>
          <a:bodyPr bIns="0" lIns="0" rIns="0" rtlCol="0" tIns="0" wrap="square"/>
          <a:p>
            <a:r>
              <a:rPr b="1" dirty="0" sz="1800" lang="en-US"/>
              <a:t>Aggregation</a:t>
            </a:r>
            <a:r>
              <a:rPr dirty="0" sz="1800" lang="en-US"/>
              <a:t>: Our Excel sheet compiles comprehensive employee performance data, segmented by key metrics such as productivity, efficiency, and goal achievement.</a:t>
            </a:r>
            <a:endParaRPr dirty="0" sz="1800" lang="en-US"/>
          </a:p>
          <a:p>
            <a:r>
              <a:rPr dirty="0" sz="1800" lang="en-US"/>
              <a:t>  </a:t>
            </a:r>
            <a:endParaRPr dirty="0" sz="1800" lang="en-US"/>
          </a:p>
          <a:p>
            <a:r>
              <a:rPr dirty="0" sz="1800" lang="en-US"/>
              <a:t> </a:t>
            </a:r>
            <a:r>
              <a:rPr b="1" dirty="0" sz="1800" lang="en-US"/>
              <a:t>Dynamic Dashboards</a:t>
            </a:r>
            <a:r>
              <a:rPr dirty="0" sz="1800" lang="en-US"/>
              <a:t>: The sheet includes interactive dashboards with real-time filtering options, allowing quick comparisons and insights into individual and team performance trends.</a:t>
            </a:r>
            <a:endParaRPr dirty="0" sz="1800" lang="en-US"/>
          </a:p>
        </p:txBody>
      </p:sp>
      <p:pic>
        <p:nvPicPr>
          <p:cNvPr id="2097165" name="object 6"/>
          <p:cNvPicPr>
            <a:picLocks/>
          </p:cNvPicPr>
          <p:nvPr/>
        </p:nvPicPr>
        <p:blipFill>
          <a:blip xmlns:r="http://schemas.openxmlformats.org/officeDocument/2006/relationships" r:embed="rId1" cstate="print"/>
          <a:stretch>
            <a:fillRect/>
          </a:stretch>
        </p:blipFill>
        <p:spPr>
          <a:xfrm>
            <a:off x="66675" y="3597351"/>
            <a:ext cx="2466975" cy="3203497"/>
          </a:xfrm>
          <a:prstGeom prst="rect"/>
        </p:spPr>
      </p:pic>
      <p:sp>
        <p:nvSpPr>
          <p:cNvPr id="1048665" name="object 7"/>
          <p:cNvSpPr txBox="1">
            <a:spLocks noGrp="1"/>
          </p:cNvSpPr>
          <p:nvPr>
            <p:ph type="title"/>
          </p:nvPr>
        </p:nvSpPr>
        <p:spPr>
          <a:xfrm>
            <a:off x="755332" y="385444"/>
            <a:ext cx="10681335" cy="758190"/>
          </a:xfrm>
        </p:spPr>
        <p:txBody>
          <a:bodyPr bIns="0" lIns="0" rIns="0" rtlCol="0" tIns="16510" vert="horz" wrap="square">
            <a:spAutoFit/>
          </a:bodyPr>
          <a:p>
            <a:r>
              <a:rPr dirty="0" lang="en-US"/>
              <a:t>THE "WOW" IN OUR SOLUTION</a:t>
            </a:r>
            <a:endParaRPr dirty="0" lang="en-US"/>
          </a:p>
        </p:txBody>
      </p:sp>
      <p:sp>
        <p:nvSpPr>
          <p:cNvPr id="1048666" name="object 8"/>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panose="020B0603020202020204"/>
                <a:cs typeface="Trebuchet MS" panose="020B0603020202020204"/>
              </a:rPr>
              <a:t>9</a:t>
            </a:fld>
            <a:endParaRPr sz="1100">
              <a:latin typeface="Trebuchet MS" panose="020B0603020202020204"/>
              <a:cs typeface="Trebuchet MS" panose="020B0603020202020204"/>
            </a:endParaRPr>
          </a:p>
        </p:txBody>
      </p:sp>
      <p:sp>
        <p:nvSpPr>
          <p:cNvPr id="1048667" name="TextBox 8"/>
          <p:cNvSpPr txBox="1"/>
          <p:nvPr/>
        </p:nvSpPr>
        <p:spPr>
          <a:xfrm>
            <a:off x="2438400" y="2427266"/>
            <a:ext cx="8534018" cy="954107"/>
          </a:xfrm>
          <a:prstGeom prst="rect"/>
          <a:noFill/>
        </p:spPr>
        <p:txBody>
          <a:bodyPr rtlCol="0" wrap="square">
            <a:spAutoFit/>
          </a:bodyPr>
          <a:p>
            <a:pPr algn="l">
              <a:buFont typeface="Arial" panose="020B0604020202020204" pitchFamily="34" charset="0"/>
              <a:buChar char="•"/>
            </a:pP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68"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6"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69"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panose="020B0603020202020204"/>
                <a:cs typeface="Trebuchet MS" panose="020B0603020202020204"/>
              </a:rPr>
              <a:t>10</a:t>
            </a:fld>
            <a:endParaRPr sz="1100">
              <a:latin typeface="Trebuchet MS" panose="020B0603020202020204"/>
              <a:cs typeface="Trebuchet MS" panose="020B0603020202020204"/>
            </a:endParaRPr>
          </a:p>
        </p:txBody>
      </p:sp>
      <p:sp>
        <p:nvSpPr>
          <p:cNvPr id="1048670" name="object 8"/>
          <p:cNvSpPr txBox="1"/>
          <p:nvPr/>
        </p:nvSpPr>
        <p:spPr>
          <a:xfrm>
            <a:off x="739775" y="291147"/>
            <a:ext cx="3303904" cy="1461135"/>
          </a:xfrm>
          <a:prstGeom prst="rect"/>
        </p:spPr>
        <p:txBody>
          <a:bodyPr bIns="0" lIns="0" rIns="0" rtlCol="0" tIns="13335" vert="horz" wrap="square">
            <a:spAutoFit/>
          </a:bodyPr>
          <a:p>
            <a:pPr marL="12700">
              <a:lnSpc>
                <a:spcPct val="100000"/>
              </a:lnSpc>
              <a:spcBef>
                <a:spcPts val="105"/>
              </a:spcBef>
            </a:pPr>
            <a:r>
              <a:rPr b="1" dirty="0" sz="4800" spc="15">
                <a:latin typeface="Trebuchet MS" panose="020B0603020202020204"/>
                <a:cs typeface="Trebuchet MS" panose="020B0603020202020204"/>
              </a:rPr>
              <a:t>M</a:t>
            </a:r>
            <a:r>
              <a:rPr b="1" dirty="0" sz="4800">
                <a:latin typeface="Trebuchet MS" panose="020B0603020202020204"/>
                <a:cs typeface="Trebuchet MS" panose="020B0603020202020204"/>
              </a:rPr>
              <a:t>O</a:t>
            </a:r>
            <a:r>
              <a:rPr b="1" dirty="0" sz="4800" spc="-15">
                <a:latin typeface="Trebuchet MS" panose="020B0603020202020204"/>
                <a:cs typeface="Trebuchet MS" panose="020B0603020202020204"/>
              </a:rPr>
              <a:t>D</a:t>
            </a:r>
            <a:r>
              <a:rPr b="1" dirty="0" sz="4800" spc="-35">
                <a:latin typeface="Trebuchet MS" panose="020B0603020202020204"/>
                <a:cs typeface="Trebuchet MS" panose="020B0603020202020204"/>
              </a:rPr>
              <a:t>E</a:t>
            </a:r>
            <a:r>
              <a:rPr b="1" dirty="0" sz="4800" spc="-30">
                <a:latin typeface="Trebuchet MS" panose="020B0603020202020204"/>
                <a:cs typeface="Trebuchet MS" panose="020B0603020202020204"/>
              </a:rPr>
              <a:t>LL</a:t>
            </a:r>
            <a:r>
              <a:rPr b="1" dirty="0" sz="4800" spc="-5">
                <a:latin typeface="Trebuchet MS" panose="020B0603020202020204"/>
                <a:cs typeface="Trebuchet MS" panose="020B0603020202020204"/>
              </a:rPr>
              <a:t>I</a:t>
            </a:r>
            <a:r>
              <a:rPr b="1" dirty="0" sz="4800" spc="30">
                <a:latin typeface="Trebuchet MS" panose="020B0603020202020204"/>
                <a:cs typeface="Trebuchet MS" panose="020B0603020202020204"/>
              </a:rPr>
              <a:t>N</a:t>
            </a:r>
            <a:r>
              <a:rPr b="1" dirty="0" sz="4800" spc="5">
                <a:latin typeface="Trebuchet MS" panose="020B0603020202020204"/>
                <a:cs typeface="Trebuchet MS" panose="020B0603020202020204"/>
              </a:rPr>
              <a:t>G</a:t>
            </a:r>
            <a:endParaRPr dirty="0" sz="4800">
              <a:latin typeface="Trebuchet MS" panose="020B0603020202020204"/>
              <a:cs typeface="Trebuchet MS" panose="020B0603020202020204"/>
            </a:endParaRPr>
          </a:p>
        </p:txBody>
      </p:sp>
      <p:sp>
        <p:nvSpPr>
          <p:cNvPr id="1048671" name="object 3"/>
          <p:cNvSpPr/>
          <p:nvPr/>
        </p:nvSpPr>
        <p:spPr>
          <a:xfrm rot="10800000" flipV="1">
            <a:off x="659480" y="1600200"/>
            <a:ext cx="9172816" cy="2987625"/>
          </a:xfrm>
          <a:custGeom>
            <a:avLst/>
            <a:ahLst/>
            <a:rect l="l" t="t" r="r" b="b"/>
            <a:pathLst>
              <a:path w="457200" h="457200">
                <a:moveTo>
                  <a:pt x="457200" y="0"/>
                </a:moveTo>
                <a:lnTo>
                  <a:pt x="0" y="0"/>
                </a:lnTo>
                <a:lnTo>
                  <a:pt x="0" y="457200"/>
                </a:lnTo>
                <a:lnTo>
                  <a:pt x="457200" y="457200"/>
                </a:lnTo>
                <a:lnTo>
                  <a:pt x="457200" y="0"/>
                </a:lnTo>
                <a:close/>
              </a:path>
            </a:pathLst>
          </a:custGeom>
          <a:solidFill>
            <a:schemeClr val="bg1"/>
          </a:solidFill>
        </p:spPr>
        <p:txBody>
          <a:bodyPr bIns="0" lIns="0" rIns="0" rtlCol="0" tIns="0" wrap="square"/>
          <a:p>
            <a:r>
              <a:rPr dirty="0" lang="en-US"/>
              <a:t>DATA COLLECTION:</a:t>
            </a:r>
            <a:endParaRPr dirty="0" lang="en-US"/>
          </a:p>
          <a:p>
            <a:pPr indent="-285750" marL="285750">
              <a:buFont typeface="Wingdings" panose="05000000000000000000" pitchFamily="2" charset="2"/>
              <a:buChar char="Ø"/>
            </a:pPr>
            <a:r>
              <a:rPr dirty="0" lang="en-US"/>
              <a:t>Drafted the data from the </a:t>
            </a:r>
            <a:r>
              <a:rPr dirty="0" lang="en-US" err="1"/>
              <a:t>edunet</a:t>
            </a:r>
            <a:r>
              <a:rPr dirty="0" lang="en-US"/>
              <a:t> dataset.</a:t>
            </a:r>
            <a:endParaRPr dirty="0" lang="en-US"/>
          </a:p>
          <a:p>
            <a:r>
              <a:rPr dirty="0" lang="en-US"/>
              <a:t>FEATURE COLLECTION:</a:t>
            </a:r>
            <a:endParaRPr dirty="0" lang="en-US"/>
          </a:p>
          <a:p>
            <a:pPr indent="-285750" marL="285750">
              <a:buFont typeface="Wingdings" panose="05000000000000000000" pitchFamily="2" charset="2"/>
              <a:buChar char="Ø"/>
            </a:pPr>
            <a:r>
              <a:rPr dirty="0" lang="en-US"/>
              <a:t> </a:t>
            </a:r>
            <a:r>
              <a:rPr dirty="0" lang="en-IN"/>
              <a:t>Business unit, Gender unit, First name, Performance score.</a:t>
            </a:r>
            <a:endParaRPr dirty="0" lang="en-US"/>
          </a:p>
          <a:p>
            <a:r>
              <a:rPr dirty="0" lang="en-US"/>
              <a:t>PERFORMANCE LEVEL:</a:t>
            </a:r>
            <a:endParaRPr dirty="0" lang="en-US"/>
          </a:p>
          <a:p>
            <a:pPr indent="-285750" marL="285750">
              <a:buFont typeface="Wingdings" panose="05000000000000000000" pitchFamily="2" charset="2"/>
              <a:buChar char="Ø"/>
            </a:pPr>
            <a:r>
              <a:rPr dirty="0" lang="en-US"/>
              <a:t>Exceeds</a:t>
            </a:r>
            <a:endParaRPr dirty="0" lang="en-US"/>
          </a:p>
          <a:p>
            <a:pPr indent="-285750" marL="285750">
              <a:buFont typeface="Wingdings" panose="05000000000000000000" pitchFamily="2" charset="2"/>
              <a:buChar char="Ø"/>
            </a:pPr>
            <a:r>
              <a:rPr dirty="0" lang="en-US"/>
              <a:t>Fully meets</a:t>
            </a:r>
            <a:endParaRPr dirty="0" lang="en-US"/>
          </a:p>
          <a:p>
            <a:pPr indent="-285750" marL="285750">
              <a:buFont typeface="Wingdings" panose="05000000000000000000" pitchFamily="2" charset="2"/>
              <a:buChar char="Ø"/>
            </a:pPr>
            <a:r>
              <a:rPr dirty="0" lang="en-US"/>
              <a:t>Needs improvements</a:t>
            </a:r>
            <a:endParaRPr dirty="0" lang="en-US"/>
          </a:p>
          <a:p>
            <a:pPr indent="-285750" marL="285750">
              <a:buFont typeface="Wingdings" panose="05000000000000000000" pitchFamily="2" charset="2"/>
              <a:buChar char="Ø"/>
            </a:pPr>
            <a:r>
              <a:rPr dirty="0" lang="en-US"/>
              <a:t>PIP</a:t>
            </a:r>
            <a:endParaRPr dirty="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72"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3"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4"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7" name="object 6"/>
          <p:cNvPicPr>
            <a:picLocks/>
          </p:cNvPicPr>
          <p:nvPr/>
        </p:nvPicPr>
        <p:blipFill>
          <a:blip xmlns:r="http://schemas.openxmlformats.org/officeDocument/2006/relationships" r:embed="rId2" cstate="print"/>
          <a:stretch>
            <a:fillRect/>
          </a:stretch>
        </p:blipFill>
        <p:spPr>
          <a:xfrm>
            <a:off x="1666875" y="6467475"/>
            <a:ext cx="76200" cy="177800"/>
          </a:xfrm>
          <a:prstGeom prst="rect"/>
        </p:spPr>
      </p:pic>
      <p:sp>
        <p:nvSpPr>
          <p:cNvPr id="1048675" name="object 7"/>
          <p:cNvSpPr txBox="1">
            <a:spLocks noGrp="1"/>
          </p:cNvSpPr>
          <p:nvPr>
            <p:ph type="title"/>
          </p:nvPr>
        </p:nvSpPr>
        <p:spPr>
          <a:xfrm>
            <a:off x="755332" y="385444"/>
            <a:ext cx="2437130" cy="1461135"/>
          </a:xfrm>
          <a:prstGeom prst="rect"/>
        </p:spPr>
        <p:txBody>
          <a:bodyPr bIns="0" lIns="0" rIns="0" rtlCol="0" tIns="13335" vert="horz" wrap="square">
            <a:spAutoFit/>
          </a:bodyPr>
          <a:p>
            <a:pPr marL="12700">
              <a:lnSpc>
                <a:spcPct val="100000"/>
              </a:lnSpc>
              <a:spcBef>
                <a:spcPts val="105"/>
              </a:spcBef>
            </a:pPr>
            <a:r>
              <a:rPr dirty="0"/>
              <a:t>R</a:t>
            </a:r>
            <a:r>
              <a:rPr dirty="0" spc="-40"/>
              <a:t>E</a:t>
            </a:r>
            <a:r>
              <a:rPr dirty="0" spc="15"/>
              <a:t>S</a:t>
            </a:r>
            <a:r>
              <a:rPr dirty="0" spc="-30"/>
              <a:t>U</a:t>
            </a:r>
            <a:r>
              <a:rPr dirty="0" spc="-405"/>
              <a:t>L</a:t>
            </a:r>
            <a:r>
              <a:rPr dirty="0"/>
              <a:t>TS</a:t>
            </a:r>
            <a:endParaRPr dirty="0"/>
          </a:p>
        </p:txBody>
      </p:sp>
      <p:sp>
        <p:nvSpPr>
          <p:cNvPr id="1048676"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panose="020B0603020202020204"/>
                <a:cs typeface="Trebuchet MS" panose="020B0603020202020204"/>
              </a:rPr>
              <a:t>11</a:t>
            </a:fld>
            <a:endParaRPr sz="1100">
              <a:latin typeface="Trebuchet MS" panose="020B0603020202020204"/>
              <a:cs typeface="Trebuchet MS" panose="020B0603020202020204"/>
            </a:endParaRPr>
          </a:p>
        </p:txBody>
      </p:sp>
      <p:graphicFrame>
        <p:nvGraphicFramePr>
          <p:cNvPr id="4194304" name="Chart 1"/>
          <p:cNvGraphicFramePr>
            <a:graphicFrameLocks/>
          </p:cNvGraphicFramePr>
          <p:nvPr/>
        </p:nvGraphicFramePr>
        <p:xfrm>
          <a:off x="1318260" y="1122044"/>
          <a:ext cx="8263890" cy="4324351"/>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77" name="Title 1"/>
          <p:cNvSpPr>
            <a:spLocks noGrp="1"/>
          </p:cNvSpPr>
          <p:nvPr>
            <p:ph type="title"/>
          </p:nvPr>
        </p:nvSpPr>
        <p:spPr>
          <a:xfrm>
            <a:off x="755332" y="385444"/>
            <a:ext cx="10681335" cy="723901"/>
          </a:xfrm>
        </p:spPr>
        <p:txBody>
          <a:bodyPr/>
          <a:p>
            <a:r>
              <a:rPr dirty="0" lang="en-US">
                <a:latin typeface="Times New Roman" panose="02020603050405020304" pitchFamily="18" charset="0"/>
                <a:cs typeface="Times New Roman" panose="02020603050405020304" pitchFamily="18" charset="0"/>
              </a:rPr>
              <a:t>conclusion</a:t>
            </a:r>
            <a:endParaRPr dirty="0" lang="en-IN">
              <a:latin typeface="Times New Roman" panose="02020603050405020304" pitchFamily="18" charset="0"/>
              <a:cs typeface="Times New Roman" panose="02020603050405020304" pitchFamily="18" charset="0"/>
            </a:endParaRPr>
          </a:p>
        </p:txBody>
      </p:sp>
      <p:sp>
        <p:nvSpPr>
          <p:cNvPr id="1048678" name="TextBox 3"/>
          <p:cNvSpPr txBox="1"/>
          <p:nvPr/>
        </p:nvSpPr>
        <p:spPr>
          <a:xfrm>
            <a:off x="781708" y="1509028"/>
            <a:ext cx="9505291" cy="2225041"/>
          </a:xfrm>
          <a:prstGeom prst="rect"/>
          <a:noFill/>
        </p:spPr>
        <p:txBody>
          <a:bodyPr wrap="square">
            <a:spAutoFit/>
          </a:bodyPr>
          <a:p>
            <a:r>
              <a:rPr dirty="0" sz="2400" lang="en-IN">
                <a:latin typeface="Times New Roman" panose="02020603050405020304" pitchFamily="18" charset="0"/>
                <a:cs typeface="Times New Roman" panose="02020603050405020304" pitchFamily="18" charset="0"/>
              </a:rPr>
              <a:t>Our employee performance analysis offers actionable insights to boost productivity, recognize top talent, and address improvement areas. By aligning employee growth with company goals, we foster a culture of continuous improvement, driving both individual and organizational success. Let’s leverage these insights for a stronger, more motivated workforce.</a:t>
            </a:r>
            <a:endParaRPr dirty="0" sz="2400" lang="en-IN">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Face Mask Detection using Convolutional Neural Network (CNN)</dc:title>
  <dc:creator>Konduru Narasimha</dc:creator>
  <cp:lastModifiedBy>Sachin</cp:lastModifiedBy>
  <dcterms:created xsi:type="dcterms:W3CDTF">2024-03-29T04:07:00Z</dcterms:created>
  <dcterms:modified xsi:type="dcterms:W3CDTF">2024-09-05T12:39:00Z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2024-03-21T05:30:00Z</vt:filetime>
  </property>
  <property fmtid="{D5CDD505-2E9C-101B-9397-08002B2CF9AE}" pid="3" name="LastSaved">
    <vt:filetime>2024-03-29T05:30:00Z</vt:filetime>
  </property>
  <property fmtid="{D5CDD505-2E9C-101B-9397-08002B2CF9AE}" pid="4" name="ICV">
    <vt:lpwstr>914DA1A2CFC642D3A5703FCB0028B935_13</vt:lpwstr>
  </property>
  <property fmtid="{D5CDD505-2E9C-101B-9397-08002B2CF9AE}" pid="5" name="KSOProductBuildVer">
    <vt:lpwstr>1033-12.2.0.17562</vt:lpwstr>
  </property>
</Properties>
</file>